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" y="0"/>
            <a:ext cx="9070848" cy="18288"/>
          </a:xfrm>
          <a:prstGeom prst="rect">
            <a:avLst/>
          </a:prstGeom>
          <a:solidFill>
            <a:srgbClr val="6366F1">
              <a:alpha val="6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914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PLANNING DOCUMENT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" y="146304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</a:t>
            </a:r>
            <a:pPr indent="0" marL="0">
              <a:buNone/>
            </a:pPr>
            <a:r>
              <a:rPr lang="en-US" sz="44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</a:t>
            </a:r>
            <a:pPr indent="0" marL="0">
              <a:buNone/>
            </a:pPr>
            <a:r>
              <a:rPr lang="en-US" sz="2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™</a:t>
            </a:r>
            <a:pPr indent="0" marL="0">
              <a:buNone/>
            </a:pPr>
            <a:r>
              <a:rPr lang="en-US" sz="4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Universe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914400" y="23774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사이트 기획서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914400" y="3108960"/>
            <a:ext cx="1371600" cy="3657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33832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멀티 브랜드 생태계 통합 관리 플랫폼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가치로 연결된 하나의 거대한 세계관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43891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2026.03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960120"/>
            <a:ext cx="1097280" cy="3657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2801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371600" y="12801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 개요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114800" y="12801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서비스 정의 · 핵심 철학 · 기술 스택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1664208"/>
            <a:ext cx="7680960" cy="4572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7373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71600" y="17373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사이트 구조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114800" y="17373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퍼블릭 포털 · 인트라 오피스 · 사이트맵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2121408"/>
            <a:ext cx="7680960" cy="4572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1945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71600" y="21945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퍼블릭 페이지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114800" y="21945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랜딩 · About · Universe · Brands · History · Contact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1520" y="2578608"/>
            <a:ext cx="7680960" cy="4572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26517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71600" y="2651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인트라 오피스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114800" y="26517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ERP(CRM/HR) · Marketing · Studio · Wiki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31520" y="3035808"/>
            <a:ext cx="7680960" cy="4572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31089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371600" y="31089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모델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114800" y="31089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엔티티 관계 · 데이터 규모 · 타입 시스템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31520" y="3493008"/>
            <a:ext cx="7680960" cy="4572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" y="35661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371600" y="35661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디자인 시스템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4114800" y="35661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컬러 · 컴포넌트 · 레이아웃 패턴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31520" y="3950208"/>
            <a:ext cx="7680960" cy="4572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28" name="Text 26"/>
          <p:cNvSpPr/>
          <p:nvPr/>
        </p:nvSpPr>
        <p:spPr>
          <a:xfrm>
            <a:off x="731520" y="40233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371600" y="40233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 분석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4114800" y="40233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완성도 매트릭스 · 이슈 · 리스크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731520" y="4407408"/>
            <a:ext cx="7680960" cy="4572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32" name="Text 30"/>
          <p:cNvSpPr/>
          <p:nvPr/>
        </p:nvSpPr>
        <p:spPr>
          <a:xfrm>
            <a:off x="731520" y="44805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371600" y="44805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개발 로드맵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4114800" y="44805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6단계 구현 계획 · 우선순위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548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 개요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051560"/>
            <a:ext cx="914400" cy="3657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371600"/>
            <a:ext cx="3657600" cy="182880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371600"/>
            <a:ext cx="3657600" cy="3657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508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서비스 정의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1920240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퍼블릭 포털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브랜드 쇼케이스, 세계관 소개, 멤버/파트너 모집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인트라 오피스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ERP(CRM/HR), 마케팅, 스튜디오, 위키 통합 관리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1371600"/>
            <a:ext cx="3657600" cy="182880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371600"/>
            <a:ext cx="3657600" cy="36576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1508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기술 스택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0" y="192024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Framework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217920" y="192024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16 + React 19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29200" y="2139696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Language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217920" y="213969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TypeScript (strict)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029200" y="235915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Styling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217920" y="235915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Tailwind CSS v4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029200" y="257860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Deploy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217920" y="257860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Cloud Run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029200" y="2798064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217920" y="279806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Mock (DB 미연동)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31520" y="3474720"/>
            <a:ext cx="7680960" cy="12801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23" name="Shape 21"/>
          <p:cNvSpPr/>
          <p:nvPr/>
        </p:nvSpPr>
        <p:spPr>
          <a:xfrm>
            <a:off x="1097280" y="3611880"/>
            <a:ext cx="73152" cy="73152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24" name="Text 22"/>
          <p:cNvSpPr/>
          <p:nvPr/>
        </p:nvSpPr>
        <p:spPr>
          <a:xfrm>
            <a:off x="1280160" y="356616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본질 Essence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280160" y="384048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변하지 않을 가치에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집요하게 집중한다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657600" y="3611880"/>
            <a:ext cx="73152" cy="73152"/>
          </a:xfrm>
          <a:prstGeom prst="ellipse">
            <a:avLst/>
          </a:prstGeom>
          <a:solidFill>
            <a:srgbClr val="A855F7"/>
          </a:solidFill>
          <a:ln/>
        </p:spPr>
      </p:sp>
      <p:sp>
        <p:nvSpPr>
          <p:cNvPr id="27" name="Text 25"/>
          <p:cNvSpPr/>
          <p:nvPr/>
        </p:nvSpPr>
        <p:spPr>
          <a:xfrm>
            <a:off x="3840480" y="356616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속도 Speed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840480" y="384048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옳은 방향을 확인하며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빠르게 전진한다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217920" y="3611880"/>
            <a:ext cx="73152" cy="7315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0" y="356616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이행 Carry Out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400800" y="384048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본질이 확인되면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바로 실행에 옮긴다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548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사이트 구조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051560"/>
            <a:ext cx="914400" cy="3657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371600"/>
            <a:ext cx="2560320" cy="347472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371600"/>
            <a:ext cx="2560320" cy="3657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5087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19659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(랜딩)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14400" y="231343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/about (소개·철학)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14400" y="2660904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/universe (관계도·Wheel)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14400" y="3008376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/brands (포트폴리오)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14400" y="335584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/history (연대기)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914400" y="37033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/contact (신청·의뢰)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914400" y="405079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/profile (내 정보)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566160" y="1371600"/>
            <a:ext cx="2560320" cy="347472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566160" y="1371600"/>
            <a:ext cx="256032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3749040" y="15087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749040" y="19659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/login (로그인)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749040" y="231343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/signup (회원가입)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749040" y="2660904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개인/기업 계정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749040" y="3008376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Mock 인증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400800" y="1371600"/>
            <a:ext cx="2560320" cy="347472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400800" y="1371600"/>
            <a:ext cx="2560320" cy="36576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24" name="Text 22"/>
          <p:cNvSpPr/>
          <p:nvPr/>
        </p:nvSpPr>
        <p:spPr>
          <a:xfrm>
            <a:off x="6583680" y="15087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Intra Office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583680" y="19659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ERP — CRM (People·Segments·Import)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583680" y="231343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ERP — HR (Staff·GPR)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583680" y="2660904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 (Campaign·Lead·Deal)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583680" y="3008376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 (Content·Analytics)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583680" y="335584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Studio (Brands·Assets·Schedule)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583680" y="37033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Studio Workflow (Kanban·Pipeline)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583680" y="405079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Wiki (Culture·Onboarding)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548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퍼블릭 페이지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051560"/>
            <a:ext cx="914400" cy="3657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325880"/>
            <a:ext cx="7680960" cy="36576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3258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페이지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43200" y="13258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주요 섹션/기능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132320" y="13258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상태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" y="1737360"/>
            <a:ext cx="7680960" cy="411480"/>
          </a:xfrm>
          <a:prstGeom prst="rect">
            <a:avLst/>
          </a:prstGeom>
          <a:solidFill>
            <a:srgbClr val="1A1A2E">
              <a:alpha val="5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17373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Landing (/)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743200" y="173736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Hero · Universe Brands · Core Value · Latest · CTA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7315200" y="1828800"/>
            <a:ext cx="731520" cy="228600"/>
          </a:xfrm>
          <a:prstGeom prst="rect">
            <a:avLst/>
          </a:prstGeom>
          <a:solidFill>
            <a:srgbClr val="10B981">
              <a:alpha val="2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0" y="18288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완성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22960" y="217627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About (/about)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743200" y="217627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Synchronicity 스토리 · Universe Manual · Value Connector · 20개 타임라인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315200" y="2267712"/>
            <a:ext cx="731520" cy="228600"/>
          </a:xfrm>
          <a:prstGeom prst="rect">
            <a:avLst/>
          </a:prstGeom>
          <a:solidFill>
            <a:srgbClr val="10B981">
              <a:alpha val="2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0" y="226771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완성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31520" y="2615184"/>
            <a:ext cx="7680960" cy="411480"/>
          </a:xfrm>
          <a:prstGeom prst="rect">
            <a:avLst/>
          </a:prstGeom>
          <a:solidFill>
            <a:srgbClr val="1A1A2E">
              <a:alpha val="5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2615184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Universe (/universe)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743200" y="2615184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SVG 관계도(10노드) · 7단계 Wheel · Vision House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7315200" y="2706624"/>
            <a:ext cx="731520" cy="228600"/>
          </a:xfrm>
          <a:prstGeom prst="rect">
            <a:avLst/>
          </a:prstGeom>
          <a:solidFill>
            <a:srgbClr val="10B981">
              <a:alpha val="2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0" y="2706624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완성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22960" y="3054096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Brands (/brands)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743200" y="3054096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9개 카테고리 필터 · 10개 브랜드 카드 · 외부링크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7315200" y="3145536"/>
            <a:ext cx="731520" cy="228600"/>
          </a:xfrm>
          <a:prstGeom prst="rect">
            <a:avLst/>
          </a:prstGeom>
          <a:solidFill>
            <a:srgbClr val="10B981">
              <a:alpha val="2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0" y="3145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완성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31520" y="3493008"/>
            <a:ext cx="7680960" cy="411480"/>
          </a:xfrm>
          <a:prstGeom prst="rect">
            <a:avLst/>
          </a:prstGeom>
          <a:solidFill>
            <a:srgbClr val="1A1A2E">
              <a:alpha val="5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822960" y="349300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History (/history)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743200" y="349300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연도 필터 · 세로 타임라인 · 20개 이벤트(2019~2025)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7315200" y="3584448"/>
            <a:ext cx="731520" cy="228600"/>
          </a:xfrm>
          <a:prstGeom prst="rect">
            <a:avLst/>
          </a:prstGeom>
          <a:solidFill>
            <a:srgbClr val="10B981">
              <a:alpha val="20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7315200" y="358444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완성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822960" y="39319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 (/contact)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2743200" y="393192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멤버신청 폼(6필드) · 프로젝트 의뢰 폼(6필드)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7315200" y="4023360"/>
            <a:ext cx="731520" cy="228600"/>
          </a:xfrm>
          <a:prstGeom prst="rect">
            <a:avLst/>
          </a:prstGeom>
          <a:solidFill>
            <a:srgbClr val="F59E0B">
              <a:alpha val="20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7315200" y="40233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UI만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731520" y="4370832"/>
            <a:ext cx="7680960" cy="411480"/>
          </a:xfrm>
          <a:prstGeom prst="rect">
            <a:avLst/>
          </a:prstGeom>
          <a:solidFill>
            <a:srgbClr val="1A1A2E">
              <a:alpha val="50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822960" y="437083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Profile (/profile)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2743200" y="43708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기본정보 · 직원정보(Staff) · 기업정보(Biz)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7315200" y="4462272"/>
            <a:ext cx="731520" cy="228600"/>
          </a:xfrm>
          <a:prstGeom prst="rect">
            <a:avLst/>
          </a:prstGeom>
          <a:solidFill>
            <a:srgbClr val="F59E0B">
              <a:alpha val="2000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7315200" y="446227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UI만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548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인트라 오피스 — ERP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051560"/>
            <a:ext cx="914400" cy="3657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371600"/>
            <a:ext cx="3657600" cy="329184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371600"/>
            <a:ext cx="365760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508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CRM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005840" y="2057400"/>
            <a:ext cx="54864" cy="54864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1188720" y="20116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88720" y="226771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15명 연락처 · 검색/필터 · 추가/수정 모달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188720" y="251460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학생5, 현업5, 멘토3, 기타2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005840" y="2926080"/>
            <a:ext cx="54864" cy="54864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1188720" y="288036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88720" y="31363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6개 세그먼트 자동 분류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188720" y="338328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타입별·상태별 필터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005840" y="3794760"/>
            <a:ext cx="54864" cy="54864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7" name="Text 15"/>
          <p:cNvSpPr/>
          <p:nvPr/>
        </p:nvSpPr>
        <p:spPr>
          <a:xfrm>
            <a:off x="1188720" y="37490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88720" y="400507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드래그앤드롭 파일 업로드 UI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188720" y="425196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CSV/XLSX (미구현)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754880" y="1371600"/>
            <a:ext cx="3657600" cy="329184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1371600"/>
            <a:ext cx="3657600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0" y="1508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029200" y="2057400"/>
            <a:ext cx="54864" cy="54864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4" name="Text 22"/>
          <p:cNvSpPr/>
          <p:nvPr/>
        </p:nvSpPr>
        <p:spPr>
          <a:xfrm>
            <a:off x="5212080" y="201168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Staff Management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212080" y="226771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3명 직원 · 사번/부서/직위/권한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212080" y="251460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4부문: 경영·사업·제작·지원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029200" y="2926080"/>
            <a:ext cx="54864" cy="54864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8" name="Text 26"/>
          <p:cNvSpPr/>
          <p:nvPr/>
        </p:nvSpPr>
        <p:spPr>
          <a:xfrm>
            <a:off x="5212080" y="288036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GPR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212080" y="31363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목표-계획-결과 관리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212080" y="338328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9개 목표 · 7단계 워크플로우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029200" y="3794760"/>
            <a:ext cx="54864" cy="54864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2" name="Text 30"/>
          <p:cNvSpPr/>
          <p:nvPr/>
        </p:nvSpPr>
        <p:spPr>
          <a:xfrm>
            <a:off x="5212080" y="374904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평가 시스템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212080" y="400507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자기평가 → 상사평가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212080" y="425196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5점 등급 (기대이하~탁월)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548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인트라 오피스 — Marketing &amp; Studio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051560"/>
            <a:ext cx="914400" cy="3657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280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1691640"/>
            <a:ext cx="1280160" cy="91440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1691640"/>
            <a:ext cx="1280160" cy="2743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78308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Campaigns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20574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6개 캠페인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예산/집행 추적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148840" y="1691640"/>
            <a:ext cx="1280160" cy="91440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148840" y="1691640"/>
            <a:ext cx="1280160" cy="274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2" name="Text 10"/>
          <p:cNvSpPr/>
          <p:nvPr/>
        </p:nvSpPr>
        <p:spPr>
          <a:xfrm>
            <a:off x="2240280" y="178308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240280" y="20574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7단계 칸반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드래그앤드롭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566160" y="1691640"/>
            <a:ext cx="1280160" cy="91440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566160" y="1691640"/>
            <a:ext cx="1280160" cy="27432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0" y="178308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657600" y="20574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6단계 파이프라인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단계별 금액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731520" y="2743200"/>
            <a:ext cx="1280160" cy="91440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31520" y="2743200"/>
            <a:ext cx="1280160" cy="2743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283464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22960" y="31089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6개 콘텐츠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채널별 관리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148840" y="2743200"/>
            <a:ext cx="1280160" cy="91440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148840" y="2743200"/>
            <a:ext cx="1280160" cy="27432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24" name="Text 22"/>
          <p:cNvSpPr/>
          <p:nvPr/>
        </p:nvSpPr>
        <p:spPr>
          <a:xfrm>
            <a:off x="2240280" y="283464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240280" y="31089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대시보드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퍼널 차트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566160" y="2743200"/>
            <a:ext cx="1280160" cy="91440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566160" y="2743200"/>
            <a:ext cx="1280160" cy="2743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8" name="Text 26"/>
          <p:cNvSpPr/>
          <p:nvPr/>
        </p:nvSpPr>
        <p:spPr>
          <a:xfrm>
            <a:off x="3657600" y="283464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Activities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657600" y="31089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10개 활동 기록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타입별 분류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937760" y="1280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Studio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4937760" y="1691640"/>
            <a:ext cx="1280160" cy="91440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937760" y="1691640"/>
            <a:ext cx="1280160" cy="27432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33" name="Text 31"/>
          <p:cNvSpPr/>
          <p:nvPr/>
        </p:nvSpPr>
        <p:spPr>
          <a:xfrm>
            <a:off x="5029200" y="178308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Brands &amp; IPs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029200" y="20574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10개 브랜드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카드 그리드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6355080" y="1691640"/>
            <a:ext cx="1280160" cy="91440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355080" y="1691640"/>
            <a:ext cx="1280160" cy="274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7" name="Text 35"/>
          <p:cNvSpPr/>
          <p:nvPr/>
        </p:nvSpPr>
        <p:spPr>
          <a:xfrm>
            <a:off x="6446520" y="178308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Kanban Board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446520" y="20574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8개 태스크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5단계 보드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7772400" y="1691640"/>
            <a:ext cx="1280160" cy="91440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7772400" y="1691640"/>
            <a:ext cx="1280160" cy="2743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1" name="Text 39"/>
          <p:cNvSpPr/>
          <p:nvPr/>
        </p:nvSpPr>
        <p:spPr>
          <a:xfrm>
            <a:off x="7863840" y="178308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7863840" y="20574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6개 콘텐츠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6단계 파이프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4937760" y="2743200"/>
            <a:ext cx="1280160" cy="91440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4937760" y="2743200"/>
            <a:ext cx="1280160" cy="27432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5" name="Text 43"/>
          <p:cNvSpPr/>
          <p:nvPr/>
        </p:nvSpPr>
        <p:spPr>
          <a:xfrm>
            <a:off x="5029200" y="283464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Projects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5029200" y="31089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5개 프로젝트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진행률 추적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6355080" y="2743200"/>
            <a:ext cx="1280160" cy="91440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6355080" y="2743200"/>
            <a:ext cx="1280160" cy="2743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9" name="Text 47"/>
          <p:cNvSpPr/>
          <p:nvPr/>
        </p:nvSpPr>
        <p:spPr>
          <a:xfrm>
            <a:off x="6446520" y="283464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6446520" y="31089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캘린더/리스트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이벤트 관리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7772400" y="2743200"/>
            <a:ext cx="1280160" cy="91440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7772400" y="2743200"/>
            <a:ext cx="1280160" cy="2743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53" name="Text 51"/>
          <p:cNvSpPr/>
          <p:nvPr/>
        </p:nvSpPr>
        <p:spPr>
          <a:xfrm>
            <a:off x="7863840" y="283464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Automation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7863840" y="31089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4개 자동화 규칙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트리거→액션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731520" y="44805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모든 데이터는 Mock 기반 — 새로고침 시 리셋됨. Backend/DB 연동 필요.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548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모델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051560"/>
            <a:ext cx="914400" cy="3657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371600"/>
            <a:ext cx="1828800" cy="91440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4173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31520" y="18745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타입 정의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834640" y="1371600"/>
            <a:ext cx="1828800" cy="91440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834640" y="14173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80+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834640" y="18745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Mock 레코드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937760" y="1371600"/>
            <a:ext cx="1828800" cy="91440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937760" y="14173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937760" y="18745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브랜드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040880" y="1371600"/>
            <a:ext cx="1828800" cy="91440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040880" y="14173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040880" y="18745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도메인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31520" y="2560320"/>
            <a:ext cx="7680960" cy="32004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25603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엔티티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743200" y="25603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건수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840480" y="256032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비고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31520" y="2926080"/>
            <a:ext cx="7680960" cy="201168"/>
          </a:xfrm>
          <a:prstGeom prst="rect">
            <a:avLst/>
          </a:prstGeom>
          <a:solidFill>
            <a:srgbClr val="1A1A2E">
              <a:alpha val="5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292608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Brand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743200" y="292608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840480" y="292608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마스터 — 모든 엔티티의 FK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822960" y="312724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Person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743200" y="312724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840480" y="312724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학생5 · 현업5 · 멘토3 · 기타2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731520" y="3328416"/>
            <a:ext cx="7680960" cy="201168"/>
          </a:xfrm>
          <a:prstGeom prst="rect">
            <a:avLst/>
          </a:prstGeom>
          <a:solidFill>
            <a:srgbClr val="1A1A2E">
              <a:alpha val="50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822960" y="332841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Organization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743200" y="332841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840480" y="3328416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파트너 · 클라이언트 · 스폰서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822960" y="352958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Deal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2743200" y="352958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840480" y="3529584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1M ~ 20M KRW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731520" y="3730752"/>
            <a:ext cx="7680960" cy="201168"/>
          </a:xfrm>
          <a:prstGeom prst="rect">
            <a:avLst/>
          </a:prstGeom>
          <a:solidFill>
            <a:srgbClr val="1A1A2E">
              <a:alpha val="50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822960" y="373075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StaffMember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2743200" y="373075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840480" y="373075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· Manager · Editor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822960" y="39319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GprGoal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2743200" y="393192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3840480" y="393192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직원당 2~5개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731520" y="4133088"/>
            <a:ext cx="7680960" cy="201168"/>
          </a:xfrm>
          <a:prstGeom prst="rect">
            <a:avLst/>
          </a:prstGeom>
          <a:solidFill>
            <a:srgbClr val="1A1A2E">
              <a:alpha val="50000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822960" y="413308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Campaign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2743200" y="413308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3840480" y="413308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1M ~ 20M 예산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822960" y="433425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Lead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2743200" y="433425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3840480" y="4334256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500K ~ 15M 가치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731520" y="4535424"/>
            <a:ext cx="7680960" cy="201168"/>
          </a:xfrm>
          <a:prstGeom prst="rect">
            <a:avLst/>
          </a:prstGeom>
          <a:solidFill>
            <a:srgbClr val="1A1A2E">
              <a:alpha val="50000"/>
            </a:srgbClr>
          </a:solidFill>
          <a:ln/>
        </p:spPr>
      </p:sp>
      <p:sp>
        <p:nvSpPr>
          <p:cNvPr id="50" name="Text 48"/>
          <p:cNvSpPr/>
          <p:nvPr/>
        </p:nvSpPr>
        <p:spPr>
          <a:xfrm>
            <a:off x="822960" y="453542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WorkflowTask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2743200" y="453542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3840480" y="4535424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Backlog ~ Done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822960" y="473659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PipelineItem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2743200" y="473659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3840480" y="473659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 ~ Published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731520" y="4937760"/>
            <a:ext cx="7680960" cy="201168"/>
          </a:xfrm>
          <a:prstGeom prst="rect">
            <a:avLst/>
          </a:prstGeom>
          <a:solidFill>
            <a:srgbClr val="1A1A2E">
              <a:alpha val="50000"/>
            </a:srgbClr>
          </a:solidFill>
          <a:ln/>
        </p:spPr>
      </p:sp>
      <p:sp>
        <p:nvSpPr>
          <p:cNvPr id="57" name="Text 55"/>
          <p:cNvSpPr/>
          <p:nvPr/>
        </p:nvSpPr>
        <p:spPr>
          <a:xfrm>
            <a:off x="822960" y="49377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BrandProject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2743200" y="493776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3840480" y="493776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 ~ 80% 진행률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548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디자인 시스템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051560"/>
            <a:ext cx="914400" cy="3657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325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 Palette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1691640"/>
            <a:ext cx="320040" cy="32004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169164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43000" y="1856232"/>
            <a:ext cx="1371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Indigo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743200" y="1691640"/>
            <a:ext cx="320040" cy="320040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10" name="Text 8"/>
          <p:cNvSpPr/>
          <p:nvPr/>
        </p:nvSpPr>
        <p:spPr>
          <a:xfrm>
            <a:off x="3154680" y="169164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Accent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154680" y="1856232"/>
            <a:ext cx="1371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Purple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754880" y="1691640"/>
            <a:ext cx="320040" cy="3200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3" name="Text 11"/>
          <p:cNvSpPr/>
          <p:nvPr/>
        </p:nvSpPr>
        <p:spPr>
          <a:xfrm>
            <a:off x="5166360" y="169164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166360" y="1856232"/>
            <a:ext cx="1371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Emerald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6766560" y="1691640"/>
            <a:ext cx="320040" cy="3200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6" name="Text 14"/>
          <p:cNvSpPr/>
          <p:nvPr/>
        </p:nvSpPr>
        <p:spPr>
          <a:xfrm>
            <a:off x="7178040" y="169164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Warning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178040" y="1856232"/>
            <a:ext cx="1371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Amber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731520" y="2331720"/>
            <a:ext cx="320040" cy="3200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9" name="Text 17"/>
          <p:cNvSpPr/>
          <p:nvPr/>
        </p:nvSpPr>
        <p:spPr>
          <a:xfrm>
            <a:off x="1143000" y="233172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43000" y="2496312"/>
            <a:ext cx="1371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Blue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2743200" y="2331720"/>
            <a:ext cx="320040" cy="3200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2" name="Text 20"/>
          <p:cNvSpPr/>
          <p:nvPr/>
        </p:nvSpPr>
        <p:spPr>
          <a:xfrm>
            <a:off x="3154680" y="233172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154680" y="2496312"/>
            <a:ext cx="1371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Red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754880" y="2331720"/>
            <a:ext cx="320040" cy="32004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5" name="Text 23"/>
          <p:cNvSpPr/>
          <p:nvPr/>
        </p:nvSpPr>
        <p:spPr>
          <a:xfrm>
            <a:off x="5166360" y="233172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BG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166360" y="2496312"/>
            <a:ext cx="1371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Black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6766560" y="2331720"/>
            <a:ext cx="320040" cy="320040"/>
          </a:xfrm>
          <a:prstGeom prst="rect">
            <a:avLst/>
          </a:prstGeom>
          <a:solidFill>
            <a:srgbClr val="18181B"/>
          </a:solidFill>
          <a:ln/>
        </p:spPr>
      </p:sp>
      <p:sp>
        <p:nvSpPr>
          <p:cNvPr id="28" name="Text 26"/>
          <p:cNvSpPr/>
          <p:nvPr/>
        </p:nvSpPr>
        <p:spPr>
          <a:xfrm>
            <a:off x="7178040" y="233172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178040" y="2496312"/>
            <a:ext cx="1371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Zinc-900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731520" y="3108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 Patterns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731520" y="3593592"/>
            <a:ext cx="54864" cy="54864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32" name="Text 30"/>
          <p:cNvSpPr/>
          <p:nvPr/>
        </p:nvSpPr>
        <p:spPr>
          <a:xfrm>
            <a:off x="914400" y="35204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카드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828800" y="35204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브랜드, 캠페인, 프로젝트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731520" y="4005072"/>
            <a:ext cx="54864" cy="54864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35" name="Text 33"/>
          <p:cNvSpPr/>
          <p:nvPr/>
        </p:nvSpPr>
        <p:spPr>
          <a:xfrm>
            <a:off x="914400" y="39319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테이블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828800" y="39319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People, Staff, Content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731520" y="4416552"/>
            <a:ext cx="54864" cy="54864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38" name="Text 36"/>
          <p:cNvSpPr/>
          <p:nvPr/>
        </p:nvSpPr>
        <p:spPr>
          <a:xfrm>
            <a:off x="914400" y="43434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칸반 보드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1828800" y="43434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Leads, Deals, Tasks, Pipeline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846320" y="3593592"/>
            <a:ext cx="54864" cy="54864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41" name="Text 39"/>
          <p:cNvSpPr/>
          <p:nvPr/>
        </p:nvSpPr>
        <p:spPr>
          <a:xfrm>
            <a:off x="5029200" y="35204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모달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943600" y="35204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PersonModal, TaskModal, AutomationBuilder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846320" y="4005072"/>
            <a:ext cx="54864" cy="54864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44" name="Text 42"/>
          <p:cNvSpPr/>
          <p:nvPr/>
        </p:nvSpPr>
        <p:spPr>
          <a:xfrm>
            <a:off x="5029200" y="39319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배지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943600" y="39319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상태, 타입, 우선순위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846320" y="4416552"/>
            <a:ext cx="54864" cy="54864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47" name="Text 45"/>
          <p:cNvSpPr/>
          <p:nvPr/>
        </p:nvSpPr>
        <p:spPr>
          <a:xfrm>
            <a:off x="5029200" y="43434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타임라인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5943600" y="43434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History, About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548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 분석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051560"/>
            <a:ext cx="914400" cy="3657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371600"/>
            <a:ext cx="2286000" cy="146304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46304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~25%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731520" y="21945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전체 완성도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91840" y="137160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UI/UX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5029200" y="1399032"/>
            <a:ext cx="3200400" cy="109728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0" name="Shape 8"/>
          <p:cNvSpPr/>
          <p:nvPr/>
        </p:nvSpPr>
        <p:spPr>
          <a:xfrm>
            <a:off x="5029200" y="1399032"/>
            <a:ext cx="2880360" cy="10972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8321040" y="137160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90%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291840" y="155448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상태관리 (Context)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029200" y="1581912"/>
            <a:ext cx="3200400" cy="109728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4" name="Shape 12"/>
          <p:cNvSpPr/>
          <p:nvPr/>
        </p:nvSpPr>
        <p:spPr>
          <a:xfrm>
            <a:off x="5029200" y="1581912"/>
            <a:ext cx="2720340" cy="10972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8321040" y="155448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85%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291840" y="173736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타입 시스템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029200" y="1764792"/>
            <a:ext cx="3200400" cy="109728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8" name="Shape 16"/>
          <p:cNvSpPr/>
          <p:nvPr/>
        </p:nvSpPr>
        <p:spPr>
          <a:xfrm>
            <a:off x="5029200" y="1764792"/>
            <a:ext cx="3040380" cy="10972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9" name="Text 17"/>
          <p:cNvSpPr/>
          <p:nvPr/>
        </p:nvSpPr>
        <p:spPr>
          <a:xfrm>
            <a:off x="8321040" y="173736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95%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291840" y="192024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API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029200" y="1947672"/>
            <a:ext cx="3200400" cy="109728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22" name="Text 20"/>
          <p:cNvSpPr/>
          <p:nvPr/>
        </p:nvSpPr>
        <p:spPr>
          <a:xfrm>
            <a:off x="8321040" y="192024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0%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291840" y="210312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029200" y="2130552"/>
            <a:ext cx="3200400" cy="109728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25" name="Text 23"/>
          <p:cNvSpPr/>
          <p:nvPr/>
        </p:nvSpPr>
        <p:spPr>
          <a:xfrm>
            <a:off x="8321040" y="210312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0%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291840" y="228600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인증 (실제)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5029200" y="2313432"/>
            <a:ext cx="3200400" cy="109728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28" name="Text 26"/>
          <p:cNvSpPr/>
          <p:nvPr/>
        </p:nvSpPr>
        <p:spPr>
          <a:xfrm>
            <a:off x="8321040" y="228600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0%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291840" y="246888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테스트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5029200" y="2496312"/>
            <a:ext cx="3200400" cy="109728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1" name="Text 29"/>
          <p:cNvSpPr/>
          <p:nvPr/>
        </p:nvSpPr>
        <p:spPr>
          <a:xfrm>
            <a:off x="8321040" y="246888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0%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3291840" y="265176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배포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5029200" y="2679192"/>
            <a:ext cx="3200400" cy="109728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4" name="Shape 32"/>
          <p:cNvSpPr/>
          <p:nvPr/>
        </p:nvSpPr>
        <p:spPr>
          <a:xfrm>
            <a:off x="5029200" y="2679192"/>
            <a:ext cx="160020" cy="10972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5" name="Text 33"/>
          <p:cNvSpPr/>
          <p:nvPr/>
        </p:nvSpPr>
        <p:spPr>
          <a:xfrm>
            <a:off x="8321040" y="265176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5%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731520" y="32004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이슈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822960" y="3621024"/>
            <a:ext cx="54864" cy="54864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38" name="Text 36"/>
          <p:cNvSpPr/>
          <p:nvPr/>
        </p:nvSpPr>
        <p:spPr>
          <a:xfrm>
            <a:off x="1005840" y="35661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영속성 0% — 새로고침 시 모든 데이터 리셋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822960" y="3867912"/>
            <a:ext cx="54864" cy="54864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40" name="Text 38"/>
          <p:cNvSpPr/>
          <p:nvPr/>
        </p:nvSpPr>
        <p:spPr>
          <a:xfrm>
            <a:off x="1005840" y="3813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인증 보안 없음 — 비밀번호 평문 하드코딩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822960" y="4114800"/>
            <a:ext cx="54864" cy="54864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42" name="Text 40"/>
          <p:cNvSpPr/>
          <p:nvPr/>
        </p:nvSpPr>
        <p:spPr>
          <a:xfrm>
            <a:off x="1005840" y="4059936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폼 제출 미작동 — Contact, Import 등 작동 안 함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822960" y="4361688"/>
            <a:ext cx="54864" cy="54864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44" name="Text 42"/>
          <p:cNvSpPr/>
          <p:nvPr/>
        </p:nvSpPr>
        <p:spPr>
          <a:xfrm>
            <a:off x="1005840" y="4306824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.env 파일 없음 — 환경 변수 관리 체계 없음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822960" y="4608576"/>
            <a:ext cx="54864" cy="54864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46" name="Text 44"/>
          <p:cNvSpPr/>
          <p:nvPr/>
        </p:nvSpPr>
        <p:spPr>
          <a:xfrm>
            <a:off x="1005840" y="455371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라우트 0개 — app/api/ 디렉토리 자체 없음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822960" y="4855464"/>
            <a:ext cx="54864" cy="54864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48" name="Text 46"/>
          <p:cNvSpPr/>
          <p:nvPr/>
        </p:nvSpPr>
        <p:spPr>
          <a:xfrm>
            <a:off x="1005840" y="48006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테스트 0개 — 테스트 프레임워크 미설치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548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개발 로드맵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051560"/>
            <a:ext cx="914400" cy="3657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481328"/>
            <a:ext cx="128016" cy="128016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6" name="Shape 4"/>
          <p:cNvSpPr/>
          <p:nvPr/>
        </p:nvSpPr>
        <p:spPr>
          <a:xfrm>
            <a:off x="918972" y="1627632"/>
            <a:ext cx="27432" cy="45720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7" name="Text 5"/>
          <p:cNvSpPr/>
          <p:nvPr/>
        </p:nvSpPr>
        <p:spPr>
          <a:xfrm>
            <a:off x="1188720" y="1371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Phase 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103120" y="13716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기반 인프라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931920" y="1371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1~2주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88720" y="162763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.env · DB(Supabase) · Prisma ORM · Auth.js · API 구조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772400" y="1389888"/>
            <a:ext cx="640080" cy="201168"/>
          </a:xfrm>
          <a:prstGeom prst="rect">
            <a:avLst/>
          </a:prstGeom>
          <a:solidFill>
            <a:srgbClr val="EF4444">
              <a:alpha val="2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0" y="138988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최고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868680" y="2075688"/>
            <a:ext cx="128016" cy="12801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4" name="Shape 12"/>
          <p:cNvSpPr/>
          <p:nvPr/>
        </p:nvSpPr>
        <p:spPr>
          <a:xfrm>
            <a:off x="918972" y="2221992"/>
            <a:ext cx="27432" cy="45720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15" name="Text 13"/>
          <p:cNvSpPr/>
          <p:nvPr/>
        </p:nvSpPr>
        <p:spPr>
          <a:xfrm>
            <a:off x="1188720" y="19659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Phase 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103120" y="19659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영속화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931920" y="19659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2~3주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88720" y="222199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· User · CRM · Staff/GPR · Marketing · Workflow DB 전환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772400" y="1984248"/>
            <a:ext cx="640080" cy="201168"/>
          </a:xfrm>
          <a:prstGeom prst="rect">
            <a:avLst/>
          </a:prstGeom>
          <a:solidFill>
            <a:srgbClr val="F59E0B">
              <a:alpha val="2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0" y="198424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높음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868680" y="2670048"/>
            <a:ext cx="128016" cy="12801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2" name="Shape 20"/>
          <p:cNvSpPr/>
          <p:nvPr/>
        </p:nvSpPr>
        <p:spPr>
          <a:xfrm>
            <a:off x="918972" y="2816352"/>
            <a:ext cx="27432" cy="45720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23" name="Text 21"/>
          <p:cNvSpPr/>
          <p:nvPr/>
        </p:nvSpPr>
        <p:spPr>
          <a:xfrm>
            <a:off x="1188720" y="2560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Phase 3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103120" y="25603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프론트엔드 연동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931920" y="2560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1~2주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88720" y="281635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Context→API 전환 · 폼 제출 · SWR/React Query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772400" y="2578608"/>
            <a:ext cx="640080" cy="201168"/>
          </a:xfrm>
          <a:prstGeom prst="rect">
            <a:avLst/>
          </a:prstGeom>
          <a:solidFill>
            <a:srgbClr val="F59E0B">
              <a:alpha val="2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7772400" y="257860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높음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868680" y="3264408"/>
            <a:ext cx="128016" cy="128016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30" name="Shape 28"/>
          <p:cNvSpPr/>
          <p:nvPr/>
        </p:nvSpPr>
        <p:spPr>
          <a:xfrm>
            <a:off x="918972" y="3410712"/>
            <a:ext cx="27432" cy="45720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31" name="Text 29"/>
          <p:cNvSpPr/>
          <p:nvPr/>
        </p:nvSpPr>
        <p:spPr>
          <a:xfrm>
            <a:off x="1188720" y="31546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Phase 4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103120" y="31546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기능 보완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931920" y="31546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2~3주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188720" y="341071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Wiki 콘텐츠 · 실제 Analytics · 파일 업로드 · Excel Import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7772400" y="3172968"/>
            <a:ext cx="640080" cy="201168"/>
          </a:xfrm>
          <a:prstGeom prst="rect">
            <a:avLst/>
          </a:prstGeom>
          <a:solidFill>
            <a:srgbClr val="3B82F6">
              <a:alpha val="20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7772400" y="317296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중간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868680" y="3858768"/>
            <a:ext cx="128016" cy="128016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38" name="Shape 36"/>
          <p:cNvSpPr/>
          <p:nvPr/>
        </p:nvSpPr>
        <p:spPr>
          <a:xfrm>
            <a:off x="918972" y="4005072"/>
            <a:ext cx="27432" cy="45720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39" name="Text 37"/>
          <p:cNvSpPr/>
          <p:nvPr/>
        </p:nvSpPr>
        <p:spPr>
          <a:xfrm>
            <a:off x="1188720" y="37490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Phase 5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2103120" y="37490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배포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3931920" y="37490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1주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1188720" y="400507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Dockerfile · docker-compose · GCP Cloud Run · CI/CD · 도메인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7772400" y="3767328"/>
            <a:ext cx="640080" cy="201168"/>
          </a:xfrm>
          <a:prstGeom prst="rect">
            <a:avLst/>
          </a:prstGeom>
          <a:solidFill>
            <a:srgbClr val="3B82F6">
              <a:alpha val="20000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7772400" y="376732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중간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868680" y="4453128"/>
            <a:ext cx="128016" cy="128016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46" name="Text 44"/>
          <p:cNvSpPr/>
          <p:nvPr/>
        </p:nvSpPr>
        <p:spPr>
          <a:xfrm>
            <a:off x="1188720" y="43434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Phase 6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2103120" y="43434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품질 관리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3931920" y="43434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병행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1188720" y="459943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Vitest 단위 테스트 · Playwright E2E · ESLint/Prettier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7772400" y="4361688"/>
            <a:ext cx="640080" cy="201168"/>
          </a:xfrm>
          <a:prstGeom prst="rect">
            <a:avLst/>
          </a:prstGeom>
          <a:solidFill>
            <a:srgbClr val="10B981">
              <a:alpha val="20000"/>
            </a:srgbClr>
          </a:solidFill>
          <a:ln/>
        </p:spPr>
      </p:sp>
      <p:sp>
        <p:nvSpPr>
          <p:cNvPr id="51" name="Text 49"/>
          <p:cNvSpPr/>
          <p:nvPr/>
        </p:nvSpPr>
        <p:spPr>
          <a:xfrm>
            <a:off x="7772400" y="436168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병행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3716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</a:t>
            </a:r>
            <a:pPr indent="0" marL="0">
              <a:buNone/>
            </a:pPr>
            <a:r>
              <a:rPr lang="en-US" sz="40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</a:t>
            </a:r>
            <a:pPr indent="0" marL="0">
              <a:buNone/>
            </a:pPr>
            <a:r>
              <a:rPr lang="en-US" sz="2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™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914400" y="21031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Beyond the Limit, Universe of Possibilities.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914400" y="2743200"/>
            <a:ext cx="1371600" cy="3657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301752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lools@tenone.biz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open.kakao.com/me/tenone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39319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TenOne Universe 사이트 기획서</dc:title>
  <dc:subject>PptxGenJS Presentation</dc:subject>
  <dc:creator>Ten:One™</dc:creator>
  <cp:lastModifiedBy>Ten:One™</cp:lastModifiedBy>
  <cp:revision>1</cp:revision>
  <dcterms:created xsi:type="dcterms:W3CDTF">2026-03-19T03:12:53Z</dcterms:created>
  <dcterms:modified xsi:type="dcterms:W3CDTF">2026-03-19T03:12:53Z</dcterms:modified>
</cp:coreProperties>
</file>