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774" y="36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badak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23" name="직선 연결선 5422">
            <a:extLst>
              <a:ext uri="{FF2B5EF4-FFF2-40B4-BE49-F238E27FC236}">
                <a16:creationId xmlns:a16="http://schemas.microsoft.com/office/drawing/2014/main" id="{C89AFA12-5DEA-4255-8B25-06148E65CF1D}"/>
              </a:ext>
            </a:extLst>
          </p:cNvPr>
          <p:cNvCxnSpPr/>
          <p:nvPr/>
        </p:nvCxnSpPr>
        <p:spPr>
          <a:xfrm>
            <a:off x="3634740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24" name="직선 연결선 5423">
            <a:extLst>
              <a:ext uri="{FF2B5EF4-FFF2-40B4-BE49-F238E27FC236}">
                <a16:creationId xmlns:a16="http://schemas.microsoft.com/office/drawing/2014/main" id="{41AC7E01-74F9-4330-A7BA-F4054B615832}"/>
              </a:ext>
            </a:extLst>
          </p:cNvPr>
          <p:cNvCxnSpPr/>
          <p:nvPr/>
        </p:nvCxnSpPr>
        <p:spPr>
          <a:xfrm>
            <a:off x="230188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TextBox 185">
            <a:hlinkClick r:id="rId2"/>
            <a:extLst>
              <a:ext uri="{FF2B5EF4-FFF2-40B4-BE49-F238E27FC236}">
                <a16:creationId xmlns:a16="http://schemas.microsoft.com/office/drawing/2014/main" id="{83386CA7-CF18-476D-ABC7-7B605D263C33}"/>
              </a:ext>
            </a:extLst>
          </p:cNvPr>
          <p:cNvSpPr txBox="1"/>
          <p:nvPr/>
        </p:nvSpPr>
        <p:spPr>
          <a:xfrm>
            <a:off x="5233839" y="7553348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06" name="TextBox 186">
            <a:hlinkClick r:id="rId3"/>
            <a:extLst>
              <a:ext uri="{FF2B5EF4-FFF2-40B4-BE49-F238E27FC236}">
                <a16:creationId xmlns:a16="http://schemas.microsoft.com/office/drawing/2014/main" id="{41CA4FA3-5AE1-4BCE-AE26-4733A2AA32BD}"/>
              </a:ext>
            </a:extLst>
          </p:cNvPr>
          <p:cNvSpPr txBox="1"/>
          <p:nvPr/>
        </p:nvSpPr>
        <p:spPr>
          <a:xfrm>
            <a:off x="2525732" y="7553348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8019E372-96B2-4E6F-A339-49534EC54F57}"/>
              </a:ext>
            </a:extLst>
          </p:cNvPr>
          <p:cNvGrpSpPr/>
          <p:nvPr/>
        </p:nvGrpSpPr>
        <p:grpSpPr>
          <a:xfrm>
            <a:off x="230188" y="501404"/>
            <a:ext cx="5534566" cy="6984568"/>
            <a:chOff x="236590" y="1417859"/>
            <a:chExt cx="7103391" cy="9010452"/>
          </a:xfrm>
        </p:grpSpPr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D38A010F-0725-4DA4-A5AF-39AD8CBA128B}"/>
                </a:ext>
              </a:extLst>
            </p:cNvPr>
            <p:cNvSpPr/>
            <p:nvPr/>
          </p:nvSpPr>
          <p:spPr>
            <a:xfrm>
              <a:off x="236590" y="8867770"/>
              <a:ext cx="1731858" cy="1560541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8126" tIns="44063" rIns="88126" bIns="44063" rtlCol="0" anchor="ctr"/>
            <a:lstStyle/>
            <a:p>
              <a:pPr algn="ctr"/>
              <a:endParaRPr lang="ko-KR" altLang="en-US" sz="100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035E5050-E1AE-4EE0-A56E-AD77A99CB699}"/>
                </a:ext>
              </a:extLst>
            </p:cNvPr>
            <p:cNvSpPr/>
            <p:nvPr/>
          </p:nvSpPr>
          <p:spPr>
            <a:xfrm>
              <a:off x="2024623" y="8867770"/>
              <a:ext cx="1731858" cy="1560541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8126" tIns="44063" rIns="88126" bIns="44063" rtlCol="0" anchor="ctr"/>
            <a:lstStyle/>
            <a:p>
              <a:pPr algn="ctr"/>
              <a:endParaRPr lang="ko-KR" altLang="en-US" sz="100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1A67412A-BD6A-4935-9F95-B4C87687ED31}"/>
                </a:ext>
              </a:extLst>
            </p:cNvPr>
            <p:cNvSpPr/>
            <p:nvPr/>
          </p:nvSpPr>
          <p:spPr>
            <a:xfrm>
              <a:off x="3812656" y="8867770"/>
              <a:ext cx="1731858" cy="1560541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8126" tIns="44063" rIns="88126" bIns="44063" rtlCol="0" anchor="ctr"/>
            <a:lstStyle/>
            <a:p>
              <a:pPr algn="ctr"/>
              <a:endParaRPr lang="ko-KR" altLang="en-US" sz="100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6D494920-0AAC-4F2D-9605-184ED924A20F}"/>
                </a:ext>
              </a:extLst>
            </p:cNvPr>
            <p:cNvSpPr/>
            <p:nvPr/>
          </p:nvSpPr>
          <p:spPr>
            <a:xfrm>
              <a:off x="5600688" y="8867770"/>
              <a:ext cx="1731858" cy="1560541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8126" tIns="44063" rIns="88126" bIns="44063" rtlCol="0" anchor="ctr"/>
            <a:lstStyle/>
            <a:p>
              <a:pPr algn="ctr"/>
              <a:endParaRPr lang="ko-KR" altLang="en-US" sz="100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65001AD3-C8DB-4E80-92BF-E3C7AA2ED347}"/>
                </a:ext>
              </a:extLst>
            </p:cNvPr>
            <p:cNvSpPr/>
            <p:nvPr/>
          </p:nvSpPr>
          <p:spPr>
            <a:xfrm>
              <a:off x="5004270" y="1417859"/>
              <a:ext cx="2328276" cy="141087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8126" tIns="44063" rIns="88126" bIns="44063" rtlCol="0" anchor="ctr"/>
            <a:lstStyle/>
            <a:p>
              <a:pPr algn="ctr"/>
              <a:endParaRPr lang="ko-KR" altLang="en-US" sz="100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4DF4C45-635B-4843-950F-57E706462A5E}"/>
                </a:ext>
              </a:extLst>
            </p:cNvPr>
            <p:cNvSpPr txBox="1"/>
            <p:nvPr/>
          </p:nvSpPr>
          <p:spPr>
            <a:xfrm>
              <a:off x="5007386" y="1422308"/>
              <a:ext cx="867812" cy="216308"/>
            </a:xfrm>
            <a:prstGeom prst="rect">
              <a:avLst/>
            </a:prstGeom>
            <a:noFill/>
          </p:spPr>
          <p:txBody>
            <a:bodyPr wrap="none" lIns="88126" tIns="44063" rIns="88126" bIns="44063" rtlCol="0">
              <a:spAutoFit/>
            </a:bodyPr>
            <a:lstStyle/>
            <a:p>
              <a:r>
                <a:rPr lang="en-US" altLang="ko-KR" sz="1000" dirty="0">
                  <a:solidFill>
                    <a:schemeClr val="bg1">
                      <a:lumMod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3. Company</a:t>
              </a:r>
              <a:endParaRPr lang="ko-KR" altLang="en-US" sz="10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F3898600-7AE4-43E1-AF03-518005C7268D}"/>
                </a:ext>
              </a:extLst>
            </p:cNvPr>
            <p:cNvSpPr/>
            <p:nvPr/>
          </p:nvSpPr>
          <p:spPr>
            <a:xfrm>
              <a:off x="236590" y="1417859"/>
              <a:ext cx="2328276" cy="141087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8126" tIns="44063" rIns="88126" bIns="44063" rtlCol="0" anchor="ctr"/>
            <a:lstStyle/>
            <a:p>
              <a:pPr algn="ctr"/>
              <a:endParaRPr lang="ko-KR" altLang="en-US" sz="100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D13E0322-CCE9-4C30-9F22-971BE12418DA}"/>
                </a:ext>
              </a:extLst>
            </p:cNvPr>
            <p:cNvSpPr txBox="1"/>
            <p:nvPr/>
          </p:nvSpPr>
          <p:spPr>
            <a:xfrm>
              <a:off x="244674" y="1422308"/>
              <a:ext cx="908319" cy="216308"/>
            </a:xfrm>
            <a:prstGeom prst="rect">
              <a:avLst/>
            </a:prstGeom>
            <a:noFill/>
          </p:spPr>
          <p:txBody>
            <a:bodyPr wrap="none" lIns="88126" tIns="44063" rIns="88126" bIns="44063" rtlCol="0">
              <a:spAutoFit/>
            </a:bodyPr>
            <a:lstStyle/>
            <a:p>
              <a:r>
                <a:rPr lang="en-US" altLang="ko-KR" sz="1000" dirty="0">
                  <a:solidFill>
                    <a:schemeClr val="bg1">
                      <a:lumMod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1. Consumer</a:t>
              </a:r>
              <a:endParaRPr lang="ko-KR" altLang="en-US" sz="10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AF2D61A7-FECE-414A-86D1-FEC9AB8AF643}"/>
                </a:ext>
              </a:extLst>
            </p:cNvPr>
            <p:cNvSpPr/>
            <p:nvPr/>
          </p:nvSpPr>
          <p:spPr>
            <a:xfrm>
              <a:off x="2620430" y="1417859"/>
              <a:ext cx="2328276" cy="141087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8126" tIns="44063" rIns="88126" bIns="44063" rtlCol="0" anchor="ctr"/>
            <a:lstStyle/>
            <a:p>
              <a:pPr algn="ctr"/>
              <a:endParaRPr lang="ko-KR" altLang="en-US" sz="100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600B0CB-6ABC-4CB8-BCC4-970E59253A83}"/>
                </a:ext>
              </a:extLst>
            </p:cNvPr>
            <p:cNvSpPr txBox="1"/>
            <p:nvPr/>
          </p:nvSpPr>
          <p:spPr>
            <a:xfrm>
              <a:off x="2633920" y="1422308"/>
              <a:ext cx="975310" cy="216308"/>
            </a:xfrm>
            <a:prstGeom prst="rect">
              <a:avLst/>
            </a:prstGeom>
            <a:noFill/>
          </p:spPr>
          <p:txBody>
            <a:bodyPr wrap="none" lIns="88126" tIns="44063" rIns="88126" bIns="44063" rtlCol="0">
              <a:spAutoFit/>
            </a:bodyPr>
            <a:lstStyle/>
            <a:p>
              <a:r>
                <a:rPr lang="en-US" altLang="ko-KR" sz="1000" dirty="0">
                  <a:solidFill>
                    <a:schemeClr val="bg1">
                      <a:lumMod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2. Competitor</a:t>
              </a:r>
              <a:endParaRPr lang="ko-KR" altLang="en-US" sz="10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C62ACD2-5876-43D9-B902-E1C79AC81950}"/>
                </a:ext>
              </a:extLst>
            </p:cNvPr>
            <p:cNvSpPr txBox="1"/>
            <p:nvPr/>
          </p:nvSpPr>
          <p:spPr>
            <a:xfrm>
              <a:off x="236593" y="8867770"/>
              <a:ext cx="841327" cy="216308"/>
            </a:xfrm>
            <a:prstGeom prst="rect">
              <a:avLst/>
            </a:prstGeom>
            <a:noFill/>
          </p:spPr>
          <p:txBody>
            <a:bodyPr wrap="none" lIns="88126" tIns="44063" rIns="88126" bIns="44063" rtlCol="0">
              <a:spAutoFit/>
            </a:bodyPr>
            <a:lstStyle/>
            <a:p>
              <a:r>
                <a:rPr lang="en-US" altLang="ko-KR" sz="1000" dirty="0">
                  <a:solidFill>
                    <a:schemeClr val="bg1">
                      <a:lumMod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11. Product</a:t>
              </a:r>
              <a:endParaRPr lang="ko-KR" altLang="en-US" sz="10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9CDF788-C864-4E54-ACD8-3DBCD6B6A438}"/>
                </a:ext>
              </a:extLst>
            </p:cNvPr>
            <p:cNvSpPr txBox="1"/>
            <p:nvPr/>
          </p:nvSpPr>
          <p:spPr>
            <a:xfrm>
              <a:off x="2024628" y="8867770"/>
              <a:ext cx="632564" cy="216308"/>
            </a:xfrm>
            <a:prstGeom prst="rect">
              <a:avLst/>
            </a:prstGeom>
            <a:noFill/>
          </p:spPr>
          <p:txBody>
            <a:bodyPr wrap="none" lIns="88126" tIns="44063" rIns="88126" bIns="44063" rtlCol="0">
              <a:spAutoFit/>
            </a:bodyPr>
            <a:lstStyle/>
            <a:p>
              <a:r>
                <a:rPr lang="en-US" altLang="ko-KR" sz="1000" dirty="0">
                  <a:solidFill>
                    <a:schemeClr val="bg1">
                      <a:lumMod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12 Price</a:t>
              </a:r>
              <a:endParaRPr lang="ko-KR" altLang="en-US" sz="10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7FF98F27-765F-479D-9B89-AC630057BDD0}"/>
                </a:ext>
              </a:extLst>
            </p:cNvPr>
            <p:cNvSpPr txBox="1"/>
            <p:nvPr/>
          </p:nvSpPr>
          <p:spPr>
            <a:xfrm>
              <a:off x="3812658" y="8867770"/>
              <a:ext cx="693322" cy="216308"/>
            </a:xfrm>
            <a:prstGeom prst="rect">
              <a:avLst/>
            </a:prstGeom>
            <a:noFill/>
          </p:spPr>
          <p:txBody>
            <a:bodyPr wrap="none" lIns="88126" tIns="44063" rIns="88126" bIns="44063" rtlCol="0">
              <a:spAutoFit/>
            </a:bodyPr>
            <a:lstStyle/>
            <a:p>
              <a:r>
                <a:rPr lang="en-US" altLang="ko-KR" sz="1000" dirty="0">
                  <a:solidFill>
                    <a:schemeClr val="bg1">
                      <a:lumMod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13. Place</a:t>
              </a:r>
              <a:endParaRPr lang="ko-KR" altLang="en-US" sz="10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A3803B84-CBDD-4A1F-BD6E-ED13595F16BA}"/>
                </a:ext>
              </a:extLst>
            </p:cNvPr>
            <p:cNvSpPr/>
            <p:nvPr/>
          </p:nvSpPr>
          <p:spPr>
            <a:xfrm>
              <a:off x="236590" y="7322870"/>
              <a:ext cx="2328276" cy="141721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8126" tIns="44063" rIns="88126" bIns="44063" rtlCol="0" anchor="ctr"/>
            <a:lstStyle/>
            <a:p>
              <a:pPr algn="ctr"/>
              <a:endParaRPr lang="ko-KR" altLang="en-US" sz="100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C56D41A-BE27-4C59-9B4A-21EB6D25C800}"/>
                </a:ext>
              </a:extLst>
            </p:cNvPr>
            <p:cNvSpPr txBox="1"/>
            <p:nvPr/>
          </p:nvSpPr>
          <p:spPr>
            <a:xfrm>
              <a:off x="241431" y="7327320"/>
              <a:ext cx="1126430" cy="216308"/>
            </a:xfrm>
            <a:prstGeom prst="rect">
              <a:avLst/>
            </a:prstGeom>
            <a:noFill/>
          </p:spPr>
          <p:txBody>
            <a:bodyPr wrap="none" lIns="88126" tIns="44063" rIns="88126" bIns="44063" rtlCol="0">
              <a:spAutoFit/>
            </a:bodyPr>
            <a:lstStyle/>
            <a:p>
              <a:r>
                <a:rPr lang="en-US" altLang="ko-KR" sz="1000" dirty="0">
                  <a:solidFill>
                    <a:schemeClr val="bg1">
                      <a:lumMod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8. Segmentation</a:t>
              </a:r>
              <a:endParaRPr lang="ko-KR" altLang="en-US" sz="10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4E621D01-A84C-4835-A8BB-DD1E535EE011}"/>
                </a:ext>
              </a:extLst>
            </p:cNvPr>
            <p:cNvSpPr/>
            <p:nvPr/>
          </p:nvSpPr>
          <p:spPr>
            <a:xfrm>
              <a:off x="2620430" y="7322870"/>
              <a:ext cx="2328276" cy="141721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8126" tIns="44063" rIns="88126" bIns="44063" rtlCol="0" anchor="ctr"/>
            <a:lstStyle/>
            <a:p>
              <a:pPr algn="ctr"/>
              <a:endParaRPr lang="ko-KR" altLang="en-US" sz="100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87A85531-1259-4F28-BC71-696223A33553}"/>
                </a:ext>
              </a:extLst>
            </p:cNvPr>
            <p:cNvSpPr txBox="1"/>
            <p:nvPr/>
          </p:nvSpPr>
          <p:spPr>
            <a:xfrm>
              <a:off x="2626212" y="7327320"/>
              <a:ext cx="869370" cy="216308"/>
            </a:xfrm>
            <a:prstGeom prst="rect">
              <a:avLst/>
            </a:prstGeom>
            <a:noFill/>
          </p:spPr>
          <p:txBody>
            <a:bodyPr wrap="none" lIns="88126" tIns="44063" rIns="88126" bIns="44063" rtlCol="0">
              <a:spAutoFit/>
            </a:bodyPr>
            <a:lstStyle/>
            <a:p>
              <a:r>
                <a:rPr lang="en-US" altLang="ko-KR" sz="1000" dirty="0">
                  <a:solidFill>
                    <a:schemeClr val="bg1">
                      <a:lumMod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9. Targeting</a:t>
              </a:r>
              <a:endParaRPr lang="ko-KR" altLang="en-US" sz="10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4E33C97A-679D-4E94-99B9-5F2C9C214B62}"/>
                </a:ext>
              </a:extLst>
            </p:cNvPr>
            <p:cNvSpPr/>
            <p:nvPr/>
          </p:nvSpPr>
          <p:spPr>
            <a:xfrm>
              <a:off x="5011705" y="7322870"/>
              <a:ext cx="2328276" cy="141721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8126" tIns="44063" rIns="88126" bIns="44063" rtlCol="0" anchor="ctr"/>
            <a:lstStyle/>
            <a:p>
              <a:pPr algn="ctr"/>
              <a:endParaRPr lang="ko-KR" altLang="en-US" sz="100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42A3C4D3-924A-47AF-8E9B-8E33F1E80F44}"/>
                </a:ext>
              </a:extLst>
            </p:cNvPr>
            <p:cNvSpPr txBox="1"/>
            <p:nvPr/>
          </p:nvSpPr>
          <p:spPr>
            <a:xfrm>
              <a:off x="5015456" y="7327320"/>
              <a:ext cx="1026722" cy="216308"/>
            </a:xfrm>
            <a:prstGeom prst="rect">
              <a:avLst/>
            </a:prstGeom>
            <a:noFill/>
          </p:spPr>
          <p:txBody>
            <a:bodyPr wrap="none" lIns="88126" tIns="44063" rIns="88126" bIns="44063" rtlCol="0">
              <a:spAutoFit/>
            </a:bodyPr>
            <a:lstStyle/>
            <a:p>
              <a:r>
                <a:rPr lang="en-US" altLang="ko-KR" sz="1000" dirty="0">
                  <a:solidFill>
                    <a:schemeClr val="bg1">
                      <a:lumMod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10. Positioning</a:t>
              </a:r>
              <a:endParaRPr lang="ko-KR" altLang="en-US" sz="10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584C970-9A37-4D2C-B6CF-E4C962D2F58E}"/>
                </a:ext>
              </a:extLst>
            </p:cNvPr>
            <p:cNvSpPr txBox="1"/>
            <p:nvPr/>
          </p:nvSpPr>
          <p:spPr>
            <a:xfrm>
              <a:off x="5600693" y="8867770"/>
              <a:ext cx="998679" cy="216308"/>
            </a:xfrm>
            <a:prstGeom prst="rect">
              <a:avLst/>
            </a:prstGeom>
            <a:noFill/>
          </p:spPr>
          <p:txBody>
            <a:bodyPr wrap="none" lIns="88126" tIns="44063" rIns="88126" bIns="44063" rtlCol="0">
              <a:spAutoFit/>
            </a:bodyPr>
            <a:lstStyle/>
            <a:p>
              <a:r>
                <a:rPr lang="en-US" altLang="ko-KR" sz="1000" dirty="0">
                  <a:solidFill>
                    <a:schemeClr val="bg1">
                      <a:lumMod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14. Promotion</a:t>
              </a:r>
              <a:endParaRPr lang="ko-KR" altLang="en-US" sz="10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4502F6A2-F473-4C76-AD36-CC2A65204C71}"/>
                </a:ext>
              </a:extLst>
            </p:cNvPr>
            <p:cNvSpPr/>
            <p:nvPr/>
          </p:nvSpPr>
          <p:spPr>
            <a:xfrm>
              <a:off x="2620896" y="2944970"/>
              <a:ext cx="2327810" cy="138393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8126" tIns="44063" rIns="88126" bIns="44063" rtlCol="0" anchor="ctr"/>
            <a:lstStyle/>
            <a:p>
              <a:pPr algn="ctr"/>
              <a:endParaRPr lang="ko-KR" altLang="en-US" sz="100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E0FF058B-1A1A-4A06-A3A8-E891A8F40D96}"/>
                </a:ext>
              </a:extLst>
            </p:cNvPr>
            <p:cNvSpPr/>
            <p:nvPr/>
          </p:nvSpPr>
          <p:spPr>
            <a:xfrm>
              <a:off x="5004737" y="2953182"/>
              <a:ext cx="2327810" cy="138393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8126" tIns="44063" rIns="88126" bIns="44063" rtlCol="0" anchor="ctr"/>
            <a:lstStyle/>
            <a:p>
              <a:pPr algn="ctr"/>
              <a:endParaRPr lang="ko-KR" altLang="en-US" sz="10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2BE9700B-B1A7-4120-87FE-05B76B19655D}"/>
                </a:ext>
              </a:extLst>
            </p:cNvPr>
            <p:cNvSpPr txBox="1"/>
            <p:nvPr/>
          </p:nvSpPr>
          <p:spPr>
            <a:xfrm>
              <a:off x="2600065" y="2944970"/>
              <a:ext cx="816400" cy="216308"/>
            </a:xfrm>
            <a:prstGeom prst="rect">
              <a:avLst/>
            </a:prstGeom>
            <a:noFill/>
          </p:spPr>
          <p:txBody>
            <a:bodyPr wrap="none" lIns="88126" tIns="44063" rIns="88126" bIns="44063" rtlCol="0">
              <a:spAutoFit/>
            </a:bodyPr>
            <a:lstStyle/>
            <a:p>
              <a:r>
                <a:rPr lang="en-US" altLang="ko-KR" sz="1000" dirty="0">
                  <a:solidFill>
                    <a:schemeClr val="bg1">
                      <a:lumMod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4. Strength</a:t>
              </a:r>
              <a:endParaRPr lang="ko-KR" altLang="en-US" sz="10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0392962F-32B1-4BFE-964D-78674D309E7D}"/>
                </a:ext>
              </a:extLst>
            </p:cNvPr>
            <p:cNvSpPr/>
            <p:nvPr/>
          </p:nvSpPr>
          <p:spPr>
            <a:xfrm>
              <a:off x="2620896" y="4388906"/>
              <a:ext cx="2327810" cy="138393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8126" tIns="44063" rIns="88126" bIns="44063" rtlCol="0" anchor="ctr"/>
            <a:lstStyle/>
            <a:p>
              <a:pPr algn="ctr"/>
              <a:endParaRPr lang="ko-KR" altLang="en-US" sz="100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57C137E5-5319-44BF-ADBA-C14D26AABE9B}"/>
                </a:ext>
              </a:extLst>
            </p:cNvPr>
            <p:cNvSpPr/>
            <p:nvPr/>
          </p:nvSpPr>
          <p:spPr>
            <a:xfrm>
              <a:off x="2620896" y="5824633"/>
              <a:ext cx="2327810" cy="138393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8126" tIns="44063" rIns="88126" bIns="44063" rtlCol="0" anchor="ctr"/>
            <a:lstStyle/>
            <a:p>
              <a:pPr algn="ctr"/>
              <a:endParaRPr lang="ko-KR" altLang="en-US" sz="100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CC612314-FA0D-432B-996B-D08CB67A2727}"/>
                </a:ext>
              </a:extLst>
            </p:cNvPr>
            <p:cNvSpPr txBox="1"/>
            <p:nvPr/>
          </p:nvSpPr>
          <p:spPr>
            <a:xfrm>
              <a:off x="2600061" y="5791699"/>
              <a:ext cx="310069" cy="216308"/>
            </a:xfrm>
            <a:prstGeom prst="rect">
              <a:avLst/>
            </a:prstGeom>
            <a:noFill/>
          </p:spPr>
          <p:txBody>
            <a:bodyPr wrap="none" lIns="88126" tIns="44063" rIns="88126" bIns="44063" rtlCol="0">
              <a:spAutoFit/>
            </a:bodyPr>
            <a:lstStyle/>
            <a:p>
              <a:r>
                <a:rPr lang="en-US" altLang="ko-KR" sz="1000" dirty="0">
                  <a:solidFill>
                    <a:schemeClr val="bg1">
                      <a:lumMod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ST</a:t>
              </a:r>
              <a:endParaRPr lang="ko-KR" altLang="en-US" sz="10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6F0DBED8-53CA-4651-B487-84E68E03D4CA}"/>
                </a:ext>
              </a:extLst>
            </p:cNvPr>
            <p:cNvSpPr txBox="1"/>
            <p:nvPr/>
          </p:nvSpPr>
          <p:spPr>
            <a:xfrm>
              <a:off x="2600063" y="4353615"/>
              <a:ext cx="336554" cy="216308"/>
            </a:xfrm>
            <a:prstGeom prst="rect">
              <a:avLst/>
            </a:prstGeom>
            <a:noFill/>
          </p:spPr>
          <p:txBody>
            <a:bodyPr wrap="none" lIns="88126" tIns="44063" rIns="88126" bIns="44063" rtlCol="0">
              <a:spAutoFit/>
            </a:bodyPr>
            <a:lstStyle/>
            <a:p>
              <a:r>
                <a:rPr lang="en-US" altLang="ko-KR" sz="1000" dirty="0">
                  <a:solidFill>
                    <a:schemeClr val="bg1">
                      <a:lumMod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SO</a:t>
              </a:r>
              <a:endParaRPr lang="ko-KR" altLang="en-US" sz="10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E4BEC4FE-6B58-4EB2-BBA7-8163A7CC40FF}"/>
                </a:ext>
              </a:extLst>
            </p:cNvPr>
            <p:cNvSpPr/>
            <p:nvPr/>
          </p:nvSpPr>
          <p:spPr>
            <a:xfrm>
              <a:off x="236590" y="4388906"/>
              <a:ext cx="2327810" cy="138393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8126" tIns="44063" rIns="88126" bIns="44063" rtlCol="0" anchor="ctr"/>
            <a:lstStyle/>
            <a:p>
              <a:pPr algn="ctr"/>
              <a:endParaRPr lang="ko-KR" altLang="en-US" sz="100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44C16EED-1F7B-4EAA-A9E0-DCC7059D45EB}"/>
                </a:ext>
              </a:extLst>
            </p:cNvPr>
            <p:cNvSpPr/>
            <p:nvPr/>
          </p:nvSpPr>
          <p:spPr>
            <a:xfrm>
              <a:off x="5004737" y="4388906"/>
              <a:ext cx="2327810" cy="138393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8126" tIns="44063" rIns="88126" bIns="44063" rtlCol="0" anchor="ctr"/>
            <a:lstStyle/>
            <a:p>
              <a:pPr algn="ctr"/>
              <a:endParaRPr lang="ko-KR" altLang="en-US" sz="100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B923BAEB-C394-45A6-8630-4D4B771DF0CD}"/>
                </a:ext>
              </a:extLst>
            </p:cNvPr>
            <p:cNvSpPr/>
            <p:nvPr/>
          </p:nvSpPr>
          <p:spPr>
            <a:xfrm>
              <a:off x="5004737" y="5824633"/>
              <a:ext cx="2327810" cy="138393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8126" tIns="44063" rIns="88126" bIns="44063" rtlCol="0" anchor="ctr"/>
            <a:lstStyle/>
            <a:p>
              <a:pPr algn="ctr"/>
              <a:endParaRPr lang="ko-KR" altLang="en-US" sz="100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9C10D0FC-F126-4DB7-8574-67CACE87DAD1}"/>
                </a:ext>
              </a:extLst>
            </p:cNvPr>
            <p:cNvSpPr txBox="1"/>
            <p:nvPr/>
          </p:nvSpPr>
          <p:spPr>
            <a:xfrm>
              <a:off x="4973939" y="5791699"/>
              <a:ext cx="369271" cy="216308"/>
            </a:xfrm>
            <a:prstGeom prst="rect">
              <a:avLst/>
            </a:prstGeom>
            <a:noFill/>
          </p:spPr>
          <p:txBody>
            <a:bodyPr wrap="none" lIns="88126" tIns="44063" rIns="88126" bIns="44063" rtlCol="0">
              <a:spAutoFit/>
            </a:bodyPr>
            <a:lstStyle/>
            <a:p>
              <a:r>
                <a:rPr lang="en-US" altLang="ko-KR" sz="1000" dirty="0">
                  <a:solidFill>
                    <a:schemeClr val="bg1">
                      <a:lumMod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WT</a:t>
              </a:r>
              <a:endParaRPr lang="ko-KR" altLang="en-US" sz="10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0086118A-1D4E-487D-83B1-25026540B5E6}"/>
                </a:ext>
              </a:extLst>
            </p:cNvPr>
            <p:cNvSpPr txBox="1"/>
            <p:nvPr/>
          </p:nvSpPr>
          <p:spPr>
            <a:xfrm>
              <a:off x="4973939" y="4353615"/>
              <a:ext cx="398872" cy="216308"/>
            </a:xfrm>
            <a:prstGeom prst="rect">
              <a:avLst/>
            </a:prstGeom>
            <a:noFill/>
          </p:spPr>
          <p:txBody>
            <a:bodyPr wrap="none" lIns="88126" tIns="44063" rIns="88126" bIns="44063" rtlCol="0">
              <a:spAutoFit/>
            </a:bodyPr>
            <a:lstStyle/>
            <a:p>
              <a:r>
                <a:rPr lang="en-US" altLang="ko-KR" sz="1000" dirty="0">
                  <a:solidFill>
                    <a:schemeClr val="bg1">
                      <a:lumMod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WO</a:t>
              </a:r>
              <a:endParaRPr lang="ko-KR" altLang="en-US" sz="10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7A051444-BBC8-426E-9425-38D527726055}"/>
                </a:ext>
              </a:extLst>
            </p:cNvPr>
            <p:cNvSpPr txBox="1"/>
            <p:nvPr/>
          </p:nvSpPr>
          <p:spPr>
            <a:xfrm>
              <a:off x="4973941" y="2944970"/>
              <a:ext cx="898971" cy="216308"/>
            </a:xfrm>
            <a:prstGeom prst="rect">
              <a:avLst/>
            </a:prstGeom>
            <a:noFill/>
          </p:spPr>
          <p:txBody>
            <a:bodyPr wrap="none" lIns="88126" tIns="44063" rIns="88126" bIns="44063" rtlCol="0">
              <a:spAutoFit/>
            </a:bodyPr>
            <a:lstStyle/>
            <a:p>
              <a:r>
                <a:rPr lang="en-US" altLang="ko-KR" sz="1000" dirty="0">
                  <a:solidFill>
                    <a:schemeClr val="bg1">
                      <a:lumMod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5. Weakness</a:t>
              </a:r>
              <a:endParaRPr lang="ko-KR" altLang="en-US" sz="10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8180679C-7484-4354-B0BE-A9F874DB7BB6}"/>
                </a:ext>
              </a:extLst>
            </p:cNvPr>
            <p:cNvSpPr txBox="1"/>
            <p:nvPr/>
          </p:nvSpPr>
          <p:spPr>
            <a:xfrm>
              <a:off x="236593" y="4353615"/>
              <a:ext cx="1014259" cy="216308"/>
            </a:xfrm>
            <a:prstGeom prst="rect">
              <a:avLst/>
            </a:prstGeom>
            <a:noFill/>
          </p:spPr>
          <p:txBody>
            <a:bodyPr wrap="none" lIns="88126" tIns="44063" rIns="88126" bIns="44063" rtlCol="0">
              <a:spAutoFit/>
            </a:bodyPr>
            <a:lstStyle/>
            <a:p>
              <a:r>
                <a:rPr lang="en-US" altLang="ko-KR" sz="1000" dirty="0">
                  <a:solidFill>
                    <a:schemeClr val="bg1">
                      <a:lumMod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6. Opportunity</a:t>
              </a:r>
              <a:endParaRPr lang="ko-KR" altLang="en-US" sz="10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1AC183BD-A99B-49D9-A248-30FEC179F953}"/>
                </a:ext>
              </a:extLst>
            </p:cNvPr>
            <p:cNvSpPr/>
            <p:nvPr/>
          </p:nvSpPr>
          <p:spPr>
            <a:xfrm>
              <a:off x="236590" y="5824633"/>
              <a:ext cx="2327810" cy="1383935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8126" tIns="44063" rIns="88126" bIns="44063" rtlCol="0" anchor="ctr"/>
            <a:lstStyle/>
            <a:p>
              <a:pPr algn="ctr"/>
              <a:endParaRPr lang="ko-KR" altLang="en-US" sz="100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9E0C06DB-EBA2-4E0C-A819-681C5173381F}"/>
                </a:ext>
              </a:extLst>
            </p:cNvPr>
            <p:cNvSpPr txBox="1"/>
            <p:nvPr/>
          </p:nvSpPr>
          <p:spPr>
            <a:xfrm>
              <a:off x="236593" y="5791699"/>
              <a:ext cx="690206" cy="216308"/>
            </a:xfrm>
            <a:prstGeom prst="rect">
              <a:avLst/>
            </a:prstGeom>
            <a:noFill/>
          </p:spPr>
          <p:txBody>
            <a:bodyPr wrap="none" lIns="88126" tIns="44063" rIns="88126" bIns="44063" rtlCol="0">
              <a:spAutoFit/>
            </a:bodyPr>
            <a:lstStyle/>
            <a:p>
              <a:r>
                <a:rPr lang="en-US" altLang="ko-KR" sz="1000" dirty="0">
                  <a:solidFill>
                    <a:schemeClr val="bg1">
                      <a:lumMod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7. Threat</a:t>
              </a:r>
              <a:endParaRPr lang="ko-KR" altLang="en-US" sz="10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AA69378D-5E54-4321-AFA7-09412A3ED5C0}"/>
                </a:ext>
              </a:extLst>
            </p:cNvPr>
            <p:cNvSpPr txBox="1"/>
            <p:nvPr/>
          </p:nvSpPr>
          <p:spPr>
            <a:xfrm>
              <a:off x="1878439" y="3428784"/>
              <a:ext cx="674627" cy="216308"/>
            </a:xfrm>
            <a:prstGeom prst="rect">
              <a:avLst/>
            </a:prstGeom>
            <a:noFill/>
          </p:spPr>
          <p:txBody>
            <a:bodyPr wrap="none" lIns="88126" tIns="44063" rIns="88126" bIns="44063" rtlCol="0">
              <a:spAutoFit/>
            </a:bodyPr>
            <a:lstStyle/>
            <a:p>
              <a:r>
                <a:rPr lang="ko-KR" altLang="en-US" sz="1000" dirty="0">
                  <a:solidFill>
                    <a:schemeClr val="bg1">
                      <a:lumMod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내적</a:t>
              </a:r>
              <a:r>
                <a:rPr lang="en-US" altLang="ko-KR" sz="1000" dirty="0">
                  <a:solidFill>
                    <a:schemeClr val="bg1">
                      <a:lumMod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 </a:t>
              </a:r>
              <a:r>
                <a:rPr lang="ko-KR" altLang="en-US" sz="1000" dirty="0">
                  <a:solidFill>
                    <a:schemeClr val="bg1">
                      <a:lumMod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요인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B6288B28-634F-4C17-9C6E-84A909F3494B}"/>
                </a:ext>
              </a:extLst>
            </p:cNvPr>
            <p:cNvSpPr txBox="1"/>
            <p:nvPr/>
          </p:nvSpPr>
          <p:spPr>
            <a:xfrm>
              <a:off x="919774" y="4056206"/>
              <a:ext cx="674627" cy="216308"/>
            </a:xfrm>
            <a:prstGeom prst="rect">
              <a:avLst/>
            </a:prstGeom>
            <a:noFill/>
          </p:spPr>
          <p:txBody>
            <a:bodyPr wrap="none" lIns="88126" tIns="44063" rIns="88126" bIns="44063" rtlCol="0">
              <a:spAutoFit/>
            </a:bodyPr>
            <a:lstStyle/>
            <a:p>
              <a:r>
                <a:rPr lang="ko-KR" altLang="en-US" sz="1000" dirty="0">
                  <a:solidFill>
                    <a:schemeClr val="bg1">
                      <a:lumMod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외적</a:t>
              </a:r>
              <a:r>
                <a:rPr lang="en-US" altLang="ko-KR" sz="1000" dirty="0">
                  <a:solidFill>
                    <a:schemeClr val="bg1">
                      <a:lumMod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 </a:t>
              </a:r>
              <a:r>
                <a:rPr lang="ko-KR" altLang="en-US" sz="1000" dirty="0">
                  <a:solidFill>
                    <a:schemeClr val="bg1">
                      <a:lumMod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요인</a:t>
              </a:r>
            </a:p>
          </p:txBody>
        </p:sp>
        <p:cxnSp>
          <p:nvCxnSpPr>
            <p:cNvPr id="58" name="직선 연결선 57">
              <a:extLst>
                <a:ext uri="{FF2B5EF4-FFF2-40B4-BE49-F238E27FC236}">
                  <a16:creationId xmlns:a16="http://schemas.microsoft.com/office/drawing/2014/main" id="{F552090F-872F-4BBD-8F55-6B030366366A}"/>
                </a:ext>
              </a:extLst>
            </p:cNvPr>
            <p:cNvCxnSpPr/>
            <p:nvPr/>
          </p:nvCxnSpPr>
          <p:spPr>
            <a:xfrm>
              <a:off x="236592" y="2884893"/>
              <a:ext cx="7094802" cy="0"/>
            </a:xfrm>
            <a:prstGeom prst="line">
              <a:avLst/>
            </a:prstGeom>
            <a:ln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직선 연결선 58">
              <a:extLst>
                <a:ext uri="{FF2B5EF4-FFF2-40B4-BE49-F238E27FC236}">
                  <a16:creationId xmlns:a16="http://schemas.microsoft.com/office/drawing/2014/main" id="{37B43154-0838-47D2-9CB0-8AE2D1908D7A}"/>
                </a:ext>
              </a:extLst>
            </p:cNvPr>
            <p:cNvCxnSpPr/>
            <p:nvPr/>
          </p:nvCxnSpPr>
          <p:spPr>
            <a:xfrm>
              <a:off x="236592" y="7258878"/>
              <a:ext cx="7094802" cy="0"/>
            </a:xfrm>
            <a:prstGeom prst="line">
              <a:avLst/>
            </a:prstGeom>
            <a:ln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직선 연결선 59">
              <a:extLst>
                <a:ext uri="{FF2B5EF4-FFF2-40B4-BE49-F238E27FC236}">
                  <a16:creationId xmlns:a16="http://schemas.microsoft.com/office/drawing/2014/main" id="{07ADC045-3EFE-478C-84C3-01C56BF7C45B}"/>
                </a:ext>
              </a:extLst>
            </p:cNvPr>
            <p:cNvCxnSpPr/>
            <p:nvPr/>
          </p:nvCxnSpPr>
          <p:spPr>
            <a:xfrm>
              <a:off x="236592" y="8804274"/>
              <a:ext cx="7094802" cy="0"/>
            </a:xfrm>
            <a:prstGeom prst="line">
              <a:avLst/>
            </a:prstGeom>
            <a:ln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1" name="TextBox 184">
            <a:hlinkClick r:id="rId4"/>
            <a:extLst>
              <a:ext uri="{FF2B5EF4-FFF2-40B4-BE49-F238E27FC236}">
                <a16:creationId xmlns:a16="http://schemas.microsoft.com/office/drawing/2014/main" id="{E569A898-3501-431C-9C6E-E51A0EAB2233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254</TotalTime>
  <Words>57</Words>
  <Application>Microsoft Office PowerPoint</Application>
  <PresentationFormat>사용자 지정</PresentationFormat>
  <Paragraphs>23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93</cp:revision>
  <dcterms:created xsi:type="dcterms:W3CDTF">2021-10-29T04:43:38Z</dcterms:created>
  <dcterms:modified xsi:type="dcterms:W3CDTF">2021-12-14T04:35:51Z</dcterms:modified>
</cp:coreProperties>
</file>