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78" y="34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06" name="그룹 23905">
            <a:extLst>
              <a:ext uri="{FF2B5EF4-FFF2-40B4-BE49-F238E27FC236}">
                <a16:creationId xmlns:a16="http://schemas.microsoft.com/office/drawing/2014/main" id="{5281F62D-97F8-4C5E-94E5-1746AE04A5EE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grpSp>
          <p:nvGrpSpPr>
            <p:cNvPr id="6346" name="그룹 6345">
              <a:extLst>
                <a:ext uri="{FF2B5EF4-FFF2-40B4-BE49-F238E27FC236}">
                  <a16:creationId xmlns:a16="http://schemas.microsoft.com/office/drawing/2014/main" id="{4AA486C1-16E4-4460-B462-6941667B55A8}"/>
                </a:ext>
              </a:extLst>
            </p:cNvPr>
            <p:cNvGrpSpPr/>
            <p:nvPr/>
          </p:nvGrpSpPr>
          <p:grpSpPr>
            <a:xfrm>
              <a:off x="230188" y="578331"/>
              <a:ext cx="5472112" cy="6903557"/>
              <a:chOff x="15319119" y="1417858"/>
              <a:chExt cx="7089499" cy="9010455"/>
            </a:xfrm>
          </p:grpSpPr>
          <p:sp>
            <p:nvSpPr>
              <p:cNvPr id="6347" name="직사각형 6346">
                <a:extLst>
                  <a:ext uri="{FF2B5EF4-FFF2-40B4-BE49-F238E27FC236}">
                    <a16:creationId xmlns:a16="http://schemas.microsoft.com/office/drawing/2014/main" id="{6DEE0A22-D57B-4DC3-BA41-7495EC224FD6}"/>
                  </a:ext>
                </a:extLst>
              </p:cNvPr>
              <p:cNvSpPr/>
              <p:nvPr/>
            </p:nvSpPr>
            <p:spPr>
              <a:xfrm>
                <a:off x="15331757" y="1417858"/>
                <a:ext cx="3492415" cy="126384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0342" tIns="30171" rIns="60342" bIns="30171" rtlCol="0" anchor="ctr"/>
              <a:lstStyle/>
              <a:p>
                <a:pPr algn="ctr"/>
                <a:endParaRPr lang="ko-KR" altLang="en-US" sz="685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348" name="TextBox 6347">
                <a:extLst>
                  <a:ext uri="{FF2B5EF4-FFF2-40B4-BE49-F238E27FC236}">
                    <a16:creationId xmlns:a16="http://schemas.microsoft.com/office/drawing/2014/main" id="{02F71771-8548-482C-8A20-94D31FAEB8B0}"/>
                  </a:ext>
                </a:extLst>
              </p:cNvPr>
              <p:cNvSpPr txBox="1"/>
              <p:nvPr/>
            </p:nvSpPr>
            <p:spPr>
              <a:xfrm>
                <a:off x="15337159" y="1434059"/>
                <a:ext cx="1832605" cy="217112"/>
              </a:xfrm>
              <a:prstGeom prst="rect">
                <a:avLst/>
              </a:prstGeom>
              <a:noFill/>
            </p:spPr>
            <p:txBody>
              <a:bodyPr wrap="none" lIns="60342" tIns="30171" rIns="60342" bIns="30171" rtlCol="0">
                <a:spAutoFit/>
              </a:bodyPr>
              <a:lstStyle/>
              <a:p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2. I am 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나는</a:t>
                </a:r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무엇을 할 것인가</a:t>
                </a:r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?</a:t>
                </a:r>
                <a:endPara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349" name="직사각형 6348">
                <a:extLst>
                  <a:ext uri="{FF2B5EF4-FFF2-40B4-BE49-F238E27FC236}">
                    <a16:creationId xmlns:a16="http://schemas.microsoft.com/office/drawing/2014/main" id="{FBA41D5A-1769-4834-B70F-D2F2DD75B24C}"/>
                  </a:ext>
                </a:extLst>
              </p:cNvPr>
              <p:cNvSpPr/>
              <p:nvPr/>
            </p:nvSpPr>
            <p:spPr>
              <a:xfrm>
                <a:off x="15331445" y="9049824"/>
                <a:ext cx="7077173" cy="137848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0342" tIns="30171" rIns="60342" bIns="30171" rtlCol="0" anchor="ctr"/>
              <a:lstStyle/>
              <a:p>
                <a:pPr algn="ctr"/>
                <a:endParaRPr lang="ko-KR" altLang="en-US" sz="685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350" name="TextBox 6349">
                <a:extLst>
                  <a:ext uri="{FF2B5EF4-FFF2-40B4-BE49-F238E27FC236}">
                    <a16:creationId xmlns:a16="http://schemas.microsoft.com/office/drawing/2014/main" id="{DFCD2629-7F2F-4458-93F2-540C6817ACB4}"/>
                  </a:ext>
                </a:extLst>
              </p:cNvPr>
              <p:cNvSpPr txBox="1"/>
              <p:nvPr/>
            </p:nvSpPr>
            <p:spPr>
              <a:xfrm>
                <a:off x="15337158" y="9066025"/>
                <a:ext cx="2229999" cy="217112"/>
              </a:xfrm>
              <a:prstGeom prst="rect">
                <a:avLst/>
              </a:prstGeom>
              <a:noFill/>
            </p:spPr>
            <p:txBody>
              <a:bodyPr wrap="none" lIns="60342" tIns="30171" rIns="60342" bIns="30171" rtlCol="0">
                <a:spAutoFit/>
              </a:bodyPr>
              <a:lstStyle/>
              <a:p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1. Customer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우리의 고객은 누구인가</a:t>
                </a:r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?</a:t>
                </a:r>
                <a:endPara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351" name="직사각형 6350">
                <a:extLst>
                  <a:ext uri="{FF2B5EF4-FFF2-40B4-BE49-F238E27FC236}">
                    <a16:creationId xmlns:a16="http://schemas.microsoft.com/office/drawing/2014/main" id="{4ED9EF1F-56B1-4894-9A66-9C9E0B8F7428}"/>
                  </a:ext>
                </a:extLst>
              </p:cNvPr>
              <p:cNvSpPr/>
              <p:nvPr/>
            </p:nvSpPr>
            <p:spPr>
              <a:xfrm>
                <a:off x="15319120" y="4933582"/>
                <a:ext cx="7077486" cy="186436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0342" tIns="30171" rIns="60342" bIns="30171" rtlCol="0" anchor="ctr"/>
              <a:lstStyle/>
              <a:p>
                <a:pPr algn="ctr"/>
                <a:endParaRPr lang="ko-KR" altLang="en-US" sz="685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352" name="직사각형 6351">
                <a:extLst>
                  <a:ext uri="{FF2B5EF4-FFF2-40B4-BE49-F238E27FC236}">
                    <a16:creationId xmlns:a16="http://schemas.microsoft.com/office/drawing/2014/main" id="{8B3DBECF-C562-4649-8306-AEB8AE4A5264}"/>
                  </a:ext>
                </a:extLst>
              </p:cNvPr>
              <p:cNvSpPr/>
              <p:nvPr/>
            </p:nvSpPr>
            <p:spPr>
              <a:xfrm>
                <a:off x="18916203" y="1417858"/>
                <a:ext cx="3492415" cy="126384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0342" tIns="30171" rIns="60342" bIns="30171" rtlCol="0" anchor="ctr"/>
              <a:lstStyle/>
              <a:p>
                <a:pPr algn="ctr"/>
                <a:endParaRPr lang="ko-KR" altLang="en-US" sz="685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353" name="TextBox 6352">
                <a:extLst>
                  <a:ext uri="{FF2B5EF4-FFF2-40B4-BE49-F238E27FC236}">
                    <a16:creationId xmlns:a16="http://schemas.microsoft.com/office/drawing/2014/main" id="{CD5CFEAB-D81E-4AB7-8C6C-BFD8385934B1}"/>
                  </a:ext>
                </a:extLst>
              </p:cNvPr>
              <p:cNvSpPr txBox="1"/>
              <p:nvPr/>
            </p:nvSpPr>
            <p:spPr>
              <a:xfrm>
                <a:off x="18927597" y="1434059"/>
                <a:ext cx="2834039" cy="217112"/>
              </a:xfrm>
              <a:prstGeom prst="rect">
                <a:avLst/>
              </a:prstGeom>
              <a:noFill/>
            </p:spPr>
            <p:txBody>
              <a:bodyPr wrap="none" lIns="60342" tIns="30171" rIns="60342" bIns="30171" rtlCol="0">
                <a:spAutoFit/>
              </a:bodyPr>
              <a:lstStyle/>
              <a:p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7. Partner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나를 도와줄 수 있는 파트너는 누구인가</a:t>
                </a:r>
              </a:p>
            </p:txBody>
          </p:sp>
          <p:sp>
            <p:nvSpPr>
              <p:cNvPr id="6354" name="순서도: 다른 페이지 연결선 6353">
                <a:extLst>
                  <a:ext uri="{FF2B5EF4-FFF2-40B4-BE49-F238E27FC236}">
                    <a16:creationId xmlns:a16="http://schemas.microsoft.com/office/drawing/2014/main" id="{6A1EDB7F-BE06-466D-84B2-DEDDAE508912}"/>
                  </a:ext>
                </a:extLst>
              </p:cNvPr>
              <p:cNvSpPr/>
              <p:nvPr/>
            </p:nvSpPr>
            <p:spPr>
              <a:xfrm>
                <a:off x="17500929" y="2396188"/>
                <a:ext cx="2733194" cy="3384715"/>
              </a:xfrm>
              <a:prstGeom prst="flowChartOffpageConnector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0342" tIns="30171" rIns="60342" bIns="30171" rtlCol="0" anchor="ctr"/>
              <a:lstStyle/>
              <a:p>
                <a:pPr algn="ctr"/>
                <a:endParaRPr lang="ko-KR" altLang="en-US" sz="685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355" name="순서도: 다른 페이지 연결선 6354">
                <a:extLst>
                  <a:ext uri="{FF2B5EF4-FFF2-40B4-BE49-F238E27FC236}">
                    <a16:creationId xmlns:a16="http://schemas.microsoft.com/office/drawing/2014/main" id="{59FEDA02-9C98-42F4-873C-4AFB0FF3B6EE}"/>
                  </a:ext>
                </a:extLst>
              </p:cNvPr>
              <p:cNvSpPr/>
              <p:nvPr/>
            </p:nvSpPr>
            <p:spPr>
              <a:xfrm rot="10800000">
                <a:off x="17500931" y="5908843"/>
                <a:ext cx="2733194" cy="3384715"/>
              </a:xfrm>
              <a:prstGeom prst="flowChartOffpageConnector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0342" tIns="30171" rIns="60342" bIns="30171" rtlCol="0" anchor="ctr"/>
              <a:lstStyle/>
              <a:p>
                <a:pPr algn="ctr"/>
                <a:endParaRPr lang="ko-KR" altLang="en-US" sz="685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356" name="TextBox 6355">
                <a:extLst>
                  <a:ext uri="{FF2B5EF4-FFF2-40B4-BE49-F238E27FC236}">
                    <a16:creationId xmlns:a16="http://schemas.microsoft.com/office/drawing/2014/main" id="{2BA33A99-144F-4757-8052-71EEB755F56E}"/>
                  </a:ext>
                </a:extLst>
              </p:cNvPr>
              <p:cNvSpPr txBox="1"/>
              <p:nvPr/>
            </p:nvSpPr>
            <p:spPr>
              <a:xfrm>
                <a:off x="15319119" y="2780636"/>
                <a:ext cx="1694085" cy="217112"/>
              </a:xfrm>
              <a:prstGeom prst="rect">
                <a:avLst/>
              </a:prstGeom>
              <a:noFill/>
            </p:spPr>
            <p:txBody>
              <a:bodyPr wrap="none" lIns="60342" tIns="30171" rIns="60342" bIns="30171" rtlCol="0">
                <a:spAutoFit/>
              </a:bodyPr>
              <a:lstStyle/>
              <a:p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6. </a:t>
                </a:r>
                <a:r>
                  <a:rPr lang="en-US" altLang="ko-KR" sz="685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Key Activities / 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핵심 활동</a:t>
                </a:r>
              </a:p>
            </p:txBody>
          </p:sp>
          <p:sp>
            <p:nvSpPr>
              <p:cNvPr id="6357" name="TextBox 6356">
                <a:extLst>
                  <a:ext uri="{FF2B5EF4-FFF2-40B4-BE49-F238E27FC236}">
                    <a16:creationId xmlns:a16="http://schemas.microsoft.com/office/drawing/2014/main" id="{A938D62B-5A96-4ECA-B109-1B1134CEBD92}"/>
                  </a:ext>
                </a:extLst>
              </p:cNvPr>
              <p:cNvSpPr txBox="1"/>
              <p:nvPr/>
            </p:nvSpPr>
            <p:spPr>
              <a:xfrm>
                <a:off x="15337158" y="4933581"/>
                <a:ext cx="1927980" cy="354696"/>
              </a:xfrm>
              <a:prstGeom prst="rect">
                <a:avLst/>
              </a:prstGeom>
              <a:noFill/>
            </p:spPr>
            <p:txBody>
              <a:bodyPr wrap="none" lIns="60342" tIns="30171" rIns="60342" bIns="30171" rtlCol="0">
                <a:spAutoFit/>
              </a:bodyPr>
              <a:lstStyle/>
              <a:p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3. Value Propositions </a:t>
                </a:r>
              </a:p>
              <a:p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고객에게 제공할 가치는 무엇인가</a:t>
                </a:r>
              </a:p>
            </p:txBody>
          </p:sp>
          <p:sp>
            <p:nvSpPr>
              <p:cNvPr id="6358" name="TextBox 6357">
                <a:extLst>
                  <a:ext uri="{FF2B5EF4-FFF2-40B4-BE49-F238E27FC236}">
                    <a16:creationId xmlns:a16="http://schemas.microsoft.com/office/drawing/2014/main" id="{08D63BCF-F6BE-460A-83F1-A7C4909E1DA7}"/>
                  </a:ext>
                </a:extLst>
              </p:cNvPr>
              <p:cNvSpPr txBox="1"/>
              <p:nvPr/>
            </p:nvSpPr>
            <p:spPr>
              <a:xfrm>
                <a:off x="15319119" y="6921735"/>
                <a:ext cx="1694085" cy="217112"/>
              </a:xfrm>
              <a:prstGeom prst="rect">
                <a:avLst/>
              </a:prstGeom>
              <a:noFill/>
            </p:spPr>
            <p:txBody>
              <a:bodyPr wrap="none" lIns="60342" tIns="30171" rIns="60342" bIns="30171" rtlCol="0">
                <a:spAutoFit/>
              </a:bodyPr>
              <a:lstStyle/>
              <a:p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6. </a:t>
                </a:r>
                <a:r>
                  <a:rPr lang="en-US" altLang="ko-KR" sz="685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Key Activities / 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핵심 활동</a:t>
                </a:r>
              </a:p>
            </p:txBody>
          </p:sp>
          <p:sp>
            <p:nvSpPr>
              <p:cNvPr id="6359" name="직사각형 6358">
                <a:extLst>
                  <a:ext uri="{FF2B5EF4-FFF2-40B4-BE49-F238E27FC236}">
                    <a16:creationId xmlns:a16="http://schemas.microsoft.com/office/drawing/2014/main" id="{EB82D549-638B-45F0-9886-6F0CE1C28DFD}"/>
                  </a:ext>
                </a:extLst>
              </p:cNvPr>
              <p:cNvSpPr/>
              <p:nvPr/>
            </p:nvSpPr>
            <p:spPr>
              <a:xfrm>
                <a:off x="15331755" y="2744733"/>
                <a:ext cx="2429506" cy="212581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0342" tIns="30171" rIns="60342" bIns="30171" rtlCol="0" anchor="ctr"/>
              <a:lstStyle/>
              <a:p>
                <a:pPr algn="ctr"/>
                <a:endParaRPr lang="ko-KR" altLang="en-US" sz="685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360" name="직사각형 6359">
                <a:extLst>
                  <a:ext uri="{FF2B5EF4-FFF2-40B4-BE49-F238E27FC236}">
                    <a16:creationId xmlns:a16="http://schemas.microsoft.com/office/drawing/2014/main" id="{FF71417B-23C2-4815-A22F-C8DEC6BBCFA4}"/>
                  </a:ext>
                </a:extLst>
              </p:cNvPr>
              <p:cNvSpPr/>
              <p:nvPr/>
            </p:nvSpPr>
            <p:spPr>
              <a:xfrm>
                <a:off x="19979112" y="2744733"/>
                <a:ext cx="2429506" cy="212581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0342" tIns="30171" rIns="60342" bIns="30171" rtlCol="0" anchor="ctr"/>
              <a:lstStyle/>
              <a:p>
                <a:pPr algn="ctr"/>
                <a:endParaRPr lang="ko-KR" altLang="en-US" sz="685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361" name="직사각형 6360">
                <a:extLst>
                  <a:ext uri="{FF2B5EF4-FFF2-40B4-BE49-F238E27FC236}">
                    <a16:creationId xmlns:a16="http://schemas.microsoft.com/office/drawing/2014/main" id="{2CD8F16C-55EF-42CE-A32C-95D4667C5B55}"/>
                  </a:ext>
                </a:extLst>
              </p:cNvPr>
              <p:cNvSpPr/>
              <p:nvPr/>
            </p:nvSpPr>
            <p:spPr>
              <a:xfrm>
                <a:off x="15331755" y="6860977"/>
                <a:ext cx="2429506" cy="212581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0342" tIns="30171" rIns="60342" bIns="30171" rtlCol="0" anchor="ctr"/>
              <a:lstStyle/>
              <a:p>
                <a:pPr algn="ctr"/>
                <a:endParaRPr lang="ko-KR" altLang="en-US" sz="685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362" name="직사각형 6361">
                <a:extLst>
                  <a:ext uri="{FF2B5EF4-FFF2-40B4-BE49-F238E27FC236}">
                    <a16:creationId xmlns:a16="http://schemas.microsoft.com/office/drawing/2014/main" id="{C0FBB0B4-4104-4580-AC90-84DE22DF66AD}"/>
                  </a:ext>
                </a:extLst>
              </p:cNvPr>
              <p:cNvSpPr/>
              <p:nvPr/>
            </p:nvSpPr>
            <p:spPr>
              <a:xfrm>
                <a:off x="19979112" y="6860977"/>
                <a:ext cx="2429506" cy="212581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0342" tIns="30171" rIns="60342" bIns="30171" rtlCol="0" anchor="ctr"/>
              <a:lstStyle/>
              <a:p>
                <a:pPr algn="ctr"/>
                <a:endParaRPr lang="ko-KR" altLang="en-US" sz="685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363" name="TextBox 6362">
                <a:extLst>
                  <a:ext uri="{FF2B5EF4-FFF2-40B4-BE49-F238E27FC236}">
                    <a16:creationId xmlns:a16="http://schemas.microsoft.com/office/drawing/2014/main" id="{B5A47FC9-4FFB-4F02-9B6C-E879F7498D22}"/>
                  </a:ext>
                </a:extLst>
              </p:cNvPr>
              <p:cNvSpPr txBox="1"/>
              <p:nvPr/>
            </p:nvSpPr>
            <p:spPr>
              <a:xfrm>
                <a:off x="17503066" y="6517361"/>
                <a:ext cx="2441187" cy="217112"/>
              </a:xfrm>
              <a:prstGeom prst="rect">
                <a:avLst/>
              </a:prstGeom>
              <a:noFill/>
            </p:spPr>
            <p:txBody>
              <a:bodyPr wrap="none" lIns="60342" tIns="30171" rIns="60342" bIns="30171" rtlCol="0">
                <a:spAutoFit/>
              </a:bodyPr>
              <a:lstStyle/>
              <a:p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11. Revenue 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수익은</a:t>
                </a:r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어떻게 만들어 지는가</a:t>
                </a:r>
              </a:p>
            </p:txBody>
          </p:sp>
          <p:sp>
            <p:nvSpPr>
              <p:cNvPr id="6364" name="TextBox 6363">
                <a:extLst>
                  <a:ext uri="{FF2B5EF4-FFF2-40B4-BE49-F238E27FC236}">
                    <a16:creationId xmlns:a16="http://schemas.microsoft.com/office/drawing/2014/main" id="{E6FF3091-5446-4601-9A94-08CBC382A17A}"/>
                  </a:ext>
                </a:extLst>
              </p:cNvPr>
              <p:cNvSpPr txBox="1"/>
              <p:nvPr/>
            </p:nvSpPr>
            <p:spPr>
              <a:xfrm>
                <a:off x="19979111" y="2744734"/>
                <a:ext cx="2057417" cy="217112"/>
              </a:xfrm>
              <a:prstGeom prst="rect">
                <a:avLst/>
              </a:prstGeom>
              <a:noFill/>
            </p:spPr>
            <p:txBody>
              <a:bodyPr wrap="none" lIns="60342" tIns="30171" rIns="60342" bIns="30171" rtlCol="0">
                <a:spAutoFit/>
              </a:bodyPr>
              <a:lstStyle/>
              <a:p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6. Activity 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고객을 만나기 위한 활동</a:t>
                </a:r>
              </a:p>
            </p:txBody>
          </p:sp>
          <p:sp>
            <p:nvSpPr>
              <p:cNvPr id="6365" name="TextBox 6364">
                <a:extLst>
                  <a:ext uri="{FF2B5EF4-FFF2-40B4-BE49-F238E27FC236}">
                    <a16:creationId xmlns:a16="http://schemas.microsoft.com/office/drawing/2014/main" id="{7DE7286F-9212-40BB-AEF4-53EFFB53D587}"/>
                  </a:ext>
                </a:extLst>
              </p:cNvPr>
              <p:cNvSpPr txBox="1"/>
              <p:nvPr/>
            </p:nvSpPr>
            <p:spPr>
              <a:xfrm>
                <a:off x="15343774" y="6916402"/>
                <a:ext cx="2066500" cy="217112"/>
              </a:xfrm>
              <a:prstGeom prst="rect">
                <a:avLst/>
              </a:prstGeom>
              <a:noFill/>
            </p:spPr>
            <p:txBody>
              <a:bodyPr wrap="none" lIns="60342" tIns="30171" rIns="60342" bIns="30171" rtlCol="0">
                <a:spAutoFit/>
              </a:bodyPr>
              <a:lstStyle/>
              <a:p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9. Relationship 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고객과의 관계 형성</a:t>
                </a:r>
              </a:p>
            </p:txBody>
          </p:sp>
          <p:sp>
            <p:nvSpPr>
              <p:cNvPr id="6366" name="TextBox 6365">
                <a:extLst>
                  <a:ext uri="{FF2B5EF4-FFF2-40B4-BE49-F238E27FC236}">
                    <a16:creationId xmlns:a16="http://schemas.microsoft.com/office/drawing/2014/main" id="{7D37287A-01A3-48B1-8891-7E32E833549D}"/>
                  </a:ext>
                </a:extLst>
              </p:cNvPr>
              <p:cNvSpPr txBox="1"/>
              <p:nvPr/>
            </p:nvSpPr>
            <p:spPr>
              <a:xfrm>
                <a:off x="19979112" y="6860978"/>
                <a:ext cx="1462460" cy="217112"/>
              </a:xfrm>
              <a:prstGeom prst="rect">
                <a:avLst/>
              </a:prstGeom>
              <a:noFill/>
            </p:spPr>
            <p:txBody>
              <a:bodyPr wrap="none" lIns="60342" tIns="30171" rIns="60342" bIns="30171" rtlCol="0">
                <a:spAutoFit/>
              </a:bodyPr>
              <a:lstStyle/>
              <a:p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10. Channels 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판매 채널</a:t>
                </a:r>
              </a:p>
            </p:txBody>
          </p:sp>
          <p:sp>
            <p:nvSpPr>
              <p:cNvPr id="6367" name="TextBox 6366">
                <a:extLst>
                  <a:ext uri="{FF2B5EF4-FFF2-40B4-BE49-F238E27FC236}">
                    <a16:creationId xmlns:a16="http://schemas.microsoft.com/office/drawing/2014/main" id="{350B920E-7D33-49A2-9B5C-B334ABCE2A88}"/>
                  </a:ext>
                </a:extLst>
              </p:cNvPr>
              <p:cNvSpPr txBox="1"/>
              <p:nvPr/>
            </p:nvSpPr>
            <p:spPr>
              <a:xfrm>
                <a:off x="17503066" y="2396187"/>
                <a:ext cx="2282229" cy="217112"/>
              </a:xfrm>
              <a:prstGeom prst="rect">
                <a:avLst/>
              </a:prstGeom>
              <a:noFill/>
            </p:spPr>
            <p:txBody>
              <a:bodyPr wrap="none" lIns="60342" tIns="30171" rIns="60342" bIns="30171" rtlCol="0">
                <a:spAutoFit/>
              </a:bodyPr>
              <a:lstStyle/>
              <a:p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8. Cost </a:t>
                </a:r>
                <a:r>
                  <a:rPr lang="ko-KR" altLang="en-US" sz="685" dirty="0" err="1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밸류를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만들기 위해 필요한 비용</a:t>
                </a:r>
              </a:p>
            </p:txBody>
          </p:sp>
          <p:sp>
            <p:nvSpPr>
              <p:cNvPr id="6368" name="TextBox 6367">
                <a:extLst>
                  <a:ext uri="{FF2B5EF4-FFF2-40B4-BE49-F238E27FC236}">
                    <a16:creationId xmlns:a16="http://schemas.microsoft.com/office/drawing/2014/main" id="{96612E50-A019-47F8-8BB2-5F52B6DFE8DC}"/>
                  </a:ext>
                </a:extLst>
              </p:cNvPr>
              <p:cNvSpPr txBox="1"/>
              <p:nvPr/>
            </p:nvSpPr>
            <p:spPr>
              <a:xfrm>
                <a:off x="15358572" y="2744734"/>
                <a:ext cx="1435210" cy="217112"/>
              </a:xfrm>
              <a:prstGeom prst="rect">
                <a:avLst/>
              </a:prstGeom>
              <a:noFill/>
            </p:spPr>
            <p:txBody>
              <a:bodyPr wrap="none" lIns="60342" tIns="30171" rIns="60342" bIns="30171" rtlCol="0">
                <a:spAutoFit/>
              </a:bodyPr>
              <a:lstStyle/>
              <a:p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5. Resources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활용</a:t>
                </a:r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자원</a:t>
                </a:r>
              </a:p>
            </p:txBody>
          </p:sp>
          <p:sp>
            <p:nvSpPr>
              <p:cNvPr id="6369" name="TextBox 6368">
                <a:extLst>
                  <a:ext uri="{FF2B5EF4-FFF2-40B4-BE49-F238E27FC236}">
                    <a16:creationId xmlns:a16="http://schemas.microsoft.com/office/drawing/2014/main" id="{764B77A7-8354-4942-9E0A-9F37F2C984D0}"/>
                  </a:ext>
                </a:extLst>
              </p:cNvPr>
              <p:cNvSpPr txBox="1"/>
              <p:nvPr/>
            </p:nvSpPr>
            <p:spPr>
              <a:xfrm>
                <a:off x="20201680" y="4933581"/>
                <a:ext cx="1912084" cy="354696"/>
              </a:xfrm>
              <a:prstGeom prst="rect">
                <a:avLst/>
              </a:prstGeom>
              <a:noFill/>
            </p:spPr>
            <p:txBody>
              <a:bodyPr wrap="none" lIns="60342" tIns="30171" rIns="60342" bIns="30171" rtlCol="0">
                <a:spAutoFit/>
              </a:bodyPr>
              <a:lstStyle/>
              <a:p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4. Positioning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</a:t>
                </a:r>
                <a:endParaRPr lang="en-US" altLang="ko-KR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고객에게</a:t>
                </a:r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</a:t>
                </a:r>
                <a:r>
                  <a:rPr lang="ko-KR" altLang="en-US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어떻게 평가 될 것인가</a:t>
                </a:r>
                <a:r>
                  <a:rPr lang="en-US" altLang="ko-KR" sz="685" dirty="0">
                    <a:solidFill>
                      <a:schemeClr val="bg1">
                        <a:lumMod val="50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?</a:t>
                </a:r>
              </a:p>
            </p:txBody>
          </p:sp>
        </p:grpSp>
        <p:cxnSp>
          <p:nvCxnSpPr>
            <p:cNvPr id="6370" name="직선 연결선 6369">
              <a:extLst>
                <a:ext uri="{FF2B5EF4-FFF2-40B4-BE49-F238E27FC236}">
                  <a16:creationId xmlns:a16="http://schemas.microsoft.com/office/drawing/2014/main" id="{93FE7970-02D7-45C1-B09A-A6AF02F8AF06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1" name="직선 연결선 6370">
              <a:extLst>
                <a:ext uri="{FF2B5EF4-FFF2-40B4-BE49-F238E27FC236}">
                  <a16:creationId xmlns:a16="http://schemas.microsoft.com/office/drawing/2014/main" id="{69307BCD-EAFC-4D49-BFF8-4C13AE9E9BE1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185">
            <a:hlinkClick r:id="rId2"/>
            <a:extLst>
              <a:ext uri="{FF2B5EF4-FFF2-40B4-BE49-F238E27FC236}">
                <a16:creationId xmlns:a16="http://schemas.microsoft.com/office/drawing/2014/main" id="{C32A1712-F049-4A57-91C7-43CA551BF24F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xtBox 186">
            <a:hlinkClick r:id="rId3"/>
            <a:extLst>
              <a:ext uri="{FF2B5EF4-FFF2-40B4-BE49-F238E27FC236}">
                <a16:creationId xmlns:a16="http://schemas.microsoft.com/office/drawing/2014/main" id="{55C9E634-F631-409D-862B-9923C6368DDB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xtBox 184">
            <a:hlinkClick r:id="rId4"/>
            <a:extLst>
              <a:ext uri="{FF2B5EF4-FFF2-40B4-BE49-F238E27FC236}">
                <a16:creationId xmlns:a16="http://schemas.microsoft.com/office/drawing/2014/main" id="{9B3B9622-8D66-4729-BEDD-70CA23B9271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303</TotalTime>
  <Words>102</Words>
  <Application>Microsoft Office PowerPoint</Application>
  <PresentationFormat>사용자 지정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111</cp:revision>
  <dcterms:created xsi:type="dcterms:W3CDTF">2021-10-29T04:43:38Z</dcterms:created>
  <dcterms:modified xsi:type="dcterms:W3CDTF">2021-12-14T04:42:53Z</dcterms:modified>
</cp:coreProperties>
</file>