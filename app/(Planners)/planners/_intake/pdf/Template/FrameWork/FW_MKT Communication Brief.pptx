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774" y="36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3" name="직선 연결선 5422">
            <a:extLst>
              <a:ext uri="{FF2B5EF4-FFF2-40B4-BE49-F238E27FC236}">
                <a16:creationId xmlns:a16="http://schemas.microsoft.com/office/drawing/2014/main" id="{C89AFA12-5DEA-4255-8B25-06148E65CF1D}"/>
              </a:ext>
            </a:extLst>
          </p:cNvPr>
          <p:cNvCxnSpPr/>
          <p:nvPr/>
        </p:nvCxnSpPr>
        <p:spPr>
          <a:xfrm>
            <a:off x="3634740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24" name="직선 연결선 5423">
            <a:extLst>
              <a:ext uri="{FF2B5EF4-FFF2-40B4-BE49-F238E27FC236}">
                <a16:creationId xmlns:a16="http://schemas.microsoft.com/office/drawing/2014/main" id="{41AC7E01-74F9-4330-A7BA-F4054B615832}"/>
              </a:ext>
            </a:extLst>
          </p:cNvPr>
          <p:cNvCxnSpPr/>
          <p:nvPr/>
        </p:nvCxnSpPr>
        <p:spPr>
          <a:xfrm>
            <a:off x="230188" y="462531"/>
            <a:ext cx="2067560" cy="0"/>
          </a:xfrm>
          <a:prstGeom prst="line">
            <a:avLst/>
          </a:prstGeom>
          <a:ln w="3175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85">
            <a:hlinkClick r:id="rId2"/>
            <a:extLst>
              <a:ext uri="{FF2B5EF4-FFF2-40B4-BE49-F238E27FC236}">
                <a16:creationId xmlns:a16="http://schemas.microsoft.com/office/drawing/2014/main" id="{83386CA7-CF18-476D-ABC7-7B605D263C33}"/>
              </a:ext>
            </a:extLst>
          </p:cNvPr>
          <p:cNvSpPr txBox="1"/>
          <p:nvPr/>
        </p:nvSpPr>
        <p:spPr>
          <a:xfrm>
            <a:off x="5233839" y="7553348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06" name="TextBox 186">
            <a:hlinkClick r:id="rId3"/>
            <a:extLst>
              <a:ext uri="{FF2B5EF4-FFF2-40B4-BE49-F238E27FC236}">
                <a16:creationId xmlns:a16="http://schemas.microsoft.com/office/drawing/2014/main" id="{41CA4FA3-5AE1-4BCE-AE26-4733A2AA32BD}"/>
              </a:ext>
            </a:extLst>
          </p:cNvPr>
          <p:cNvSpPr txBox="1"/>
          <p:nvPr/>
        </p:nvSpPr>
        <p:spPr>
          <a:xfrm>
            <a:off x="2525732" y="7553348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FC3B591E-5080-4E47-B98A-A22F749C222A}"/>
              </a:ext>
            </a:extLst>
          </p:cNvPr>
          <p:cNvSpPr/>
          <p:nvPr/>
        </p:nvSpPr>
        <p:spPr>
          <a:xfrm>
            <a:off x="254446" y="496361"/>
            <a:ext cx="1791610" cy="11956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B568254A-8D7E-4384-AFF6-6DEF2CBBC1E1}"/>
              </a:ext>
            </a:extLst>
          </p:cNvPr>
          <p:cNvSpPr txBox="1"/>
          <p:nvPr/>
        </p:nvSpPr>
        <p:spPr>
          <a:xfrm>
            <a:off x="187074" y="524511"/>
            <a:ext cx="1611058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1. I am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소비자에게 어떤 브랜드인가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:a16="http://schemas.microsoft.com/office/drawing/2014/main" id="{B0B8B033-F85E-4633-9708-6F9BFBFCE0C7}"/>
              </a:ext>
            </a:extLst>
          </p:cNvPr>
          <p:cNvSpPr/>
          <p:nvPr/>
        </p:nvSpPr>
        <p:spPr>
          <a:xfrm>
            <a:off x="2083157" y="496361"/>
            <a:ext cx="1791610" cy="11956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8B2CFEB9-6302-4AFC-89E4-B491FD7D4F25}"/>
              </a:ext>
            </a:extLst>
          </p:cNvPr>
          <p:cNvSpPr txBox="1"/>
          <p:nvPr/>
        </p:nvSpPr>
        <p:spPr>
          <a:xfrm>
            <a:off x="2015785" y="524511"/>
            <a:ext cx="1918834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2. Consumer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제품을 사는 사람들은 누구인가</a:t>
            </a:r>
          </a:p>
        </p:txBody>
      </p:sp>
      <p:sp>
        <p:nvSpPr>
          <p:cNvPr id="66" name="직사각형 65">
            <a:extLst>
              <a:ext uri="{FF2B5EF4-FFF2-40B4-BE49-F238E27FC236}">
                <a16:creationId xmlns:a16="http://schemas.microsoft.com/office/drawing/2014/main" id="{71A5EF7E-BD55-4EF6-9A4F-5C82A5D8E209}"/>
              </a:ext>
            </a:extLst>
          </p:cNvPr>
          <p:cNvSpPr/>
          <p:nvPr/>
        </p:nvSpPr>
        <p:spPr>
          <a:xfrm>
            <a:off x="3911869" y="496361"/>
            <a:ext cx="1791610" cy="119565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9EBD5FC-F103-4B4E-8E90-64E9FE3F61D4}"/>
              </a:ext>
            </a:extLst>
          </p:cNvPr>
          <p:cNvSpPr txBox="1"/>
          <p:nvPr/>
        </p:nvSpPr>
        <p:spPr>
          <a:xfrm>
            <a:off x="3844496" y="524511"/>
            <a:ext cx="1821052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3. Competitor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시장내 경쟁자는 누구인가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8" name="직사각형 67">
            <a:extLst>
              <a:ext uri="{FF2B5EF4-FFF2-40B4-BE49-F238E27FC236}">
                <a16:creationId xmlns:a16="http://schemas.microsoft.com/office/drawing/2014/main" id="{5948DA45-FB42-4CA9-8B4B-91162378CFA3}"/>
              </a:ext>
            </a:extLst>
          </p:cNvPr>
          <p:cNvSpPr/>
          <p:nvPr/>
        </p:nvSpPr>
        <p:spPr>
          <a:xfrm>
            <a:off x="254447" y="5747168"/>
            <a:ext cx="1785890" cy="178589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69" name="직사각형 68">
            <a:extLst>
              <a:ext uri="{FF2B5EF4-FFF2-40B4-BE49-F238E27FC236}">
                <a16:creationId xmlns:a16="http://schemas.microsoft.com/office/drawing/2014/main" id="{E75C9596-98C7-49FE-B821-3D927EE982A4}"/>
              </a:ext>
            </a:extLst>
          </p:cNvPr>
          <p:cNvSpPr/>
          <p:nvPr/>
        </p:nvSpPr>
        <p:spPr>
          <a:xfrm>
            <a:off x="2087781" y="5747168"/>
            <a:ext cx="1785890" cy="178589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574A98D-5542-48FE-A709-9183043BCB40}"/>
              </a:ext>
            </a:extLst>
          </p:cNvPr>
          <p:cNvSpPr txBox="1"/>
          <p:nvPr/>
        </p:nvSpPr>
        <p:spPr>
          <a:xfrm>
            <a:off x="187074" y="5747164"/>
            <a:ext cx="1829066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14. Message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소비자를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움직이게 할 메시지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5CD6E549-4C20-4D1A-B708-B1991E2CCD8F}"/>
              </a:ext>
            </a:extLst>
          </p:cNvPr>
          <p:cNvSpPr txBox="1"/>
          <p:nvPr/>
        </p:nvSpPr>
        <p:spPr>
          <a:xfrm>
            <a:off x="2020408" y="5747164"/>
            <a:ext cx="1569380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15. Activity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소비자를 참여시킬 활동</a:t>
            </a:r>
          </a:p>
        </p:txBody>
      </p: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9AAD4E3C-6663-49E6-BDB3-D96F4CD8FAF2}"/>
              </a:ext>
            </a:extLst>
          </p:cNvPr>
          <p:cNvSpPr/>
          <p:nvPr/>
        </p:nvSpPr>
        <p:spPr>
          <a:xfrm>
            <a:off x="3921115" y="5747168"/>
            <a:ext cx="1785890" cy="1785897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69C6B47D-EF56-482B-9F0E-DD243FD4A141}"/>
              </a:ext>
            </a:extLst>
          </p:cNvPr>
          <p:cNvSpPr txBox="1"/>
          <p:nvPr/>
        </p:nvSpPr>
        <p:spPr>
          <a:xfrm>
            <a:off x="3853741" y="5747164"/>
            <a:ext cx="1617470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16. Touch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Point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소비자와의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접점은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4" name="직사각형 73">
            <a:extLst>
              <a:ext uri="{FF2B5EF4-FFF2-40B4-BE49-F238E27FC236}">
                <a16:creationId xmlns:a16="http://schemas.microsoft.com/office/drawing/2014/main" id="{44BCCCAB-30D0-40D6-B205-6E4AD54F1865}"/>
              </a:ext>
            </a:extLst>
          </p:cNvPr>
          <p:cNvSpPr/>
          <p:nvPr/>
        </p:nvSpPr>
        <p:spPr>
          <a:xfrm>
            <a:off x="254447" y="1744568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5" name="직사각형 74">
            <a:extLst>
              <a:ext uri="{FF2B5EF4-FFF2-40B4-BE49-F238E27FC236}">
                <a16:creationId xmlns:a16="http://schemas.microsoft.com/office/drawing/2014/main" id="{50E018AD-BC02-4843-A984-D92F2BB6C559}"/>
              </a:ext>
            </a:extLst>
          </p:cNvPr>
          <p:cNvSpPr/>
          <p:nvPr/>
        </p:nvSpPr>
        <p:spPr>
          <a:xfrm>
            <a:off x="3016063" y="1744568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00B5C4CB-3704-4E13-857D-F16A2FB2BDA4}"/>
              </a:ext>
            </a:extLst>
          </p:cNvPr>
          <p:cNvSpPr txBox="1"/>
          <p:nvPr/>
        </p:nvSpPr>
        <p:spPr>
          <a:xfrm>
            <a:off x="187073" y="1744564"/>
            <a:ext cx="2721939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4. Target Definition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커뮤니케이션 타겟은 누구로 정의 할 것인가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01EB8634-D704-41D6-912E-5D17DC5A67FF}"/>
              </a:ext>
            </a:extLst>
          </p:cNvPr>
          <p:cNvSpPr txBox="1"/>
          <p:nvPr/>
        </p:nvSpPr>
        <p:spPr>
          <a:xfrm>
            <a:off x="2948691" y="1744564"/>
            <a:ext cx="2048678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5. Pain point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타겟이 생각하는 불편은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8" name="직사각형 77">
            <a:extLst>
              <a:ext uri="{FF2B5EF4-FFF2-40B4-BE49-F238E27FC236}">
                <a16:creationId xmlns:a16="http://schemas.microsoft.com/office/drawing/2014/main" id="{9FD664A4-EA30-46C2-9B3F-3AC83A9EE5BB}"/>
              </a:ext>
            </a:extLst>
          </p:cNvPr>
          <p:cNvSpPr/>
          <p:nvPr/>
        </p:nvSpPr>
        <p:spPr>
          <a:xfrm>
            <a:off x="254447" y="2541980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79" name="직사각형 78">
            <a:extLst>
              <a:ext uri="{FF2B5EF4-FFF2-40B4-BE49-F238E27FC236}">
                <a16:creationId xmlns:a16="http://schemas.microsoft.com/office/drawing/2014/main" id="{2B9EAF99-602A-493A-A66B-E0AFC2CA4090}"/>
              </a:ext>
            </a:extLst>
          </p:cNvPr>
          <p:cNvSpPr/>
          <p:nvPr/>
        </p:nvSpPr>
        <p:spPr>
          <a:xfrm>
            <a:off x="3016063" y="2541980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A4D2F039-9E02-4CAE-A2A5-949365C844EC}"/>
              </a:ext>
            </a:extLst>
          </p:cNvPr>
          <p:cNvSpPr txBox="1"/>
          <p:nvPr/>
        </p:nvSpPr>
        <p:spPr>
          <a:xfrm>
            <a:off x="187075" y="2541976"/>
            <a:ext cx="2143255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6. Value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타겟이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기대하는 진정한 가치는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A5FFACE3-9392-4A64-937B-C245A727C081}"/>
              </a:ext>
            </a:extLst>
          </p:cNvPr>
          <p:cNvSpPr txBox="1"/>
          <p:nvPr/>
        </p:nvSpPr>
        <p:spPr>
          <a:xfrm>
            <a:off x="2948688" y="2541976"/>
            <a:ext cx="2524770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7. Principal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Competition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우리의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진정한 경쟁자는 누구인가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AC64A6FC-CE63-4DC3-A3A5-2DAF494B2D26}"/>
              </a:ext>
            </a:extLst>
          </p:cNvPr>
          <p:cNvSpPr/>
          <p:nvPr/>
        </p:nvSpPr>
        <p:spPr>
          <a:xfrm>
            <a:off x="254447" y="3339392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3" name="직사각형 82">
            <a:extLst>
              <a:ext uri="{FF2B5EF4-FFF2-40B4-BE49-F238E27FC236}">
                <a16:creationId xmlns:a16="http://schemas.microsoft.com/office/drawing/2014/main" id="{AE7F6620-BC1F-4C91-89CF-90AA27A61B51}"/>
              </a:ext>
            </a:extLst>
          </p:cNvPr>
          <p:cNvSpPr/>
          <p:nvPr/>
        </p:nvSpPr>
        <p:spPr>
          <a:xfrm>
            <a:off x="3016063" y="3339392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07609AF-F5FA-4259-8C4C-B056B076052B}"/>
              </a:ext>
            </a:extLst>
          </p:cNvPr>
          <p:cNvSpPr txBox="1"/>
          <p:nvPr/>
        </p:nvSpPr>
        <p:spPr>
          <a:xfrm>
            <a:off x="187071" y="3339388"/>
            <a:ext cx="2580875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8. Campaign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Objective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소비자가 어떤 행동을 하길 바라는가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5" name="TextBox 84">
            <a:extLst>
              <a:ext uri="{FF2B5EF4-FFF2-40B4-BE49-F238E27FC236}">
                <a16:creationId xmlns:a16="http://schemas.microsoft.com/office/drawing/2014/main" id="{EA168C6B-0330-44F2-9634-50920236D8ED}"/>
              </a:ext>
            </a:extLst>
          </p:cNvPr>
          <p:cNvSpPr txBox="1"/>
          <p:nvPr/>
        </p:nvSpPr>
        <p:spPr>
          <a:xfrm>
            <a:off x="2948688" y="3339388"/>
            <a:ext cx="2441413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9. Insight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소비자의 행동을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이끌어낼 </a:t>
            </a:r>
            <a:r>
              <a:rPr lang="ko-KR" altLang="en-US" sz="700" dirty="0" err="1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인사이트는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107F38C5-5068-4A3E-8334-1DECE7D09E19}"/>
              </a:ext>
            </a:extLst>
          </p:cNvPr>
          <p:cNvSpPr/>
          <p:nvPr/>
        </p:nvSpPr>
        <p:spPr>
          <a:xfrm>
            <a:off x="254447" y="4144575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298B2481-96D3-4491-8F66-0C3177FF59F5}"/>
              </a:ext>
            </a:extLst>
          </p:cNvPr>
          <p:cNvSpPr/>
          <p:nvPr/>
        </p:nvSpPr>
        <p:spPr>
          <a:xfrm>
            <a:off x="3016063" y="4144575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80A2F4B2-A83B-4431-9C6C-593567FAA412}"/>
              </a:ext>
            </a:extLst>
          </p:cNvPr>
          <p:cNvSpPr txBox="1"/>
          <p:nvPr/>
        </p:nvSpPr>
        <p:spPr>
          <a:xfrm>
            <a:off x="187071" y="4144571"/>
            <a:ext cx="2478283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10. Value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우리가 소비자에게 주고자 하는 가치는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A90DF276-2AD1-457D-A4CA-B1984911B804}"/>
              </a:ext>
            </a:extLst>
          </p:cNvPr>
          <p:cNvSpPr txBox="1"/>
          <p:nvPr/>
        </p:nvSpPr>
        <p:spPr>
          <a:xfrm>
            <a:off x="2948691" y="4144571"/>
            <a:ext cx="2635377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11. Reason To Believe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소비자가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믿을 수 있는 근거는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0569AD60-61ED-4887-9D65-8FED7E63B2DB}"/>
              </a:ext>
            </a:extLst>
          </p:cNvPr>
          <p:cNvSpPr/>
          <p:nvPr/>
        </p:nvSpPr>
        <p:spPr>
          <a:xfrm>
            <a:off x="254447" y="4932425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3723C3A0-94EB-4067-9E63-EBEB3E3EC07E}"/>
              </a:ext>
            </a:extLst>
          </p:cNvPr>
          <p:cNvSpPr/>
          <p:nvPr/>
        </p:nvSpPr>
        <p:spPr>
          <a:xfrm>
            <a:off x="3016063" y="4932425"/>
            <a:ext cx="2687416" cy="752631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8126" tIns="44063" rIns="88126" bIns="44063" rtlCol="0" anchor="ctr"/>
          <a:lstStyle/>
          <a:p>
            <a:pPr algn="ctr"/>
            <a:endParaRPr lang="ko-KR" altLang="en-US" sz="70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150C212F-AFCB-4BDF-8E07-E4BDDE2BEE80}"/>
              </a:ext>
            </a:extLst>
          </p:cNvPr>
          <p:cNvSpPr txBox="1"/>
          <p:nvPr/>
        </p:nvSpPr>
        <p:spPr>
          <a:xfrm>
            <a:off x="187071" y="4932420"/>
            <a:ext cx="1665560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12. Concept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 전략적 컨셉은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FFDFF1EA-17C9-4262-B496-01C723F23685}"/>
              </a:ext>
            </a:extLst>
          </p:cNvPr>
          <p:cNvSpPr txBox="1"/>
          <p:nvPr/>
        </p:nvSpPr>
        <p:spPr>
          <a:xfrm>
            <a:off x="2948688" y="4932420"/>
            <a:ext cx="2502327" cy="196708"/>
          </a:xfrm>
          <a:prstGeom prst="rect">
            <a:avLst/>
          </a:prstGeom>
          <a:noFill/>
        </p:spPr>
        <p:txBody>
          <a:bodyPr wrap="none" lIns="88126" tIns="44063" rIns="88126" bIns="44063" rtlCol="0">
            <a:spAutoFit/>
          </a:bodyPr>
          <a:lstStyle/>
          <a:p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13. Theme </a:t>
            </a:r>
            <a:r>
              <a:rPr lang="ko-KR" altLang="en-US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컨셉을 전개시킬 크리에이티브 테마는 무엇인가</a:t>
            </a:r>
            <a:r>
              <a:rPr lang="en-US" altLang="ko-KR" sz="700" dirty="0">
                <a:solidFill>
                  <a:schemeClr val="bg1">
                    <a:lumMod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?</a:t>
            </a:r>
            <a:endParaRPr lang="ko-KR" altLang="en-US" sz="700" dirty="0">
              <a:solidFill>
                <a:schemeClr val="bg1">
                  <a:lumMod val="50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39" name="TextBox 184">
            <a:hlinkClick r:id="rId4"/>
            <a:extLst>
              <a:ext uri="{FF2B5EF4-FFF2-40B4-BE49-F238E27FC236}">
                <a16:creationId xmlns:a16="http://schemas.microsoft.com/office/drawing/2014/main" id="{D46B8134-0BB9-44C4-922C-6CDFDCA8F660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277</TotalTime>
  <Words>145</Words>
  <Application>Microsoft Office PowerPoint</Application>
  <PresentationFormat>사용자 지정</PresentationFormat>
  <Paragraphs>19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94</cp:revision>
  <dcterms:created xsi:type="dcterms:W3CDTF">2021-10-29T04:43:38Z</dcterms:created>
  <dcterms:modified xsi:type="dcterms:W3CDTF">2021-12-14T04:34:39Z</dcterms:modified>
</cp:coreProperties>
</file>